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4727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a:effectLst/>
      </p:bgPr>
    </p:bg>
    <p:spTree>
      <p:nvGrpSpPr>
        <p:cNvPr id="1" name=""/>
        <p:cNvGrpSpPr/>
        <p:nvPr/>
      </p:nvGrpSpPr>
      <p:grpSpPr>
        <a:xfrm>
          <a:off x="0" y="0"/>
          <a:ext cx="0" cy="0"/>
          <a:chOff x="0" y="0"/>
          <a:chExt cx="0" cy="0"/>
        </a:xfrm>
      </p:grpSpPr>
      <p:sp>
        <p:nvSpPr>
          <p:cNvPr id="5" name="Shape 3"/>
          <p:cNvSpPr/>
          <p:nvPr/>
        </p:nvSpPr>
        <p:spPr>
          <a:xfrm>
            <a:off x="640080" y="685800"/>
            <a:ext cx="731520" cy="731520"/>
          </a:xfrm>
          <a:prstGeom prst="ellipse">
            <a:avLst/>
          </a:prstGeom>
          <a:solidFill>
            <a:srgbClr val="1C7293"/>
          </a:solidFill>
          <a:ln/>
        </p:spPr>
        <p:txBody>
          <a:bodyPr/>
          <a:lstStyle/>
          <a:p>
            <a:endParaRPr lang="fr-FR"/>
          </a:p>
        </p:txBody>
      </p:sp>
      <p:pic>
        <p:nvPicPr>
          <p:cNvPr id="6" name="Image 0" descr="C:\Users\AS237666\AppData\Local\Temp\claude\C--Users-AS237666-StudioProjects-cia-invest-app\ee4fdbc2-3ba5-4c88-be2e-a026838ac83d\scratchpad\icons\server_FFFFFF.png"/>
          <p:cNvPicPr>
            <a:picLocks noChangeAspect="1"/>
          </p:cNvPicPr>
          <p:nvPr/>
        </p:nvPicPr>
        <p:blipFill>
          <a:blip r:embed="rId3"/>
          <a:stretch>
            <a:fillRect/>
          </a:stretch>
        </p:blipFill>
        <p:spPr>
          <a:xfrm>
            <a:off x="735178" y="780898"/>
            <a:ext cx="541325" cy="541325"/>
          </a:xfrm>
          <a:prstGeom prst="rect">
            <a:avLst/>
          </a:prstGeom>
        </p:spPr>
      </p:pic>
      <p:sp>
        <p:nvSpPr>
          <p:cNvPr id="7" name="Text 4"/>
          <p:cNvSpPr/>
          <p:nvPr/>
        </p:nvSpPr>
        <p:spPr>
          <a:xfrm>
            <a:off x="1554480" y="713232"/>
            <a:ext cx="8686800" cy="68580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DATACAMP II — MASTER 2 GÉNIE INFORMATIQUE — 2025-2026</a:t>
            </a:r>
            <a:endParaRPr lang="en-US" sz="1300" dirty="0"/>
          </a:p>
        </p:txBody>
      </p:sp>
      <p:sp>
        <p:nvSpPr>
          <p:cNvPr id="8" name="Text 5"/>
          <p:cNvSpPr/>
          <p:nvPr/>
        </p:nvSpPr>
        <p:spPr>
          <a:xfrm>
            <a:off x="640080" y="2331720"/>
            <a:ext cx="10607040" cy="822960"/>
          </a:xfrm>
          <a:prstGeom prst="rect">
            <a:avLst/>
          </a:prstGeom>
          <a:noFill/>
          <a:ln/>
        </p:spPr>
        <p:txBody>
          <a:bodyPr wrap="square"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Analyse en Composantes Principales</a:t>
            </a:r>
            <a:endParaRPr lang="en-US" sz="4200" dirty="0"/>
          </a:p>
        </p:txBody>
      </p:sp>
      <p:sp>
        <p:nvSpPr>
          <p:cNvPr id="9" name="Text 6"/>
          <p:cNvSpPr/>
          <p:nvPr/>
        </p:nvSpPr>
        <p:spPr>
          <a:xfrm>
            <a:off x="640080" y="3063240"/>
            <a:ext cx="10607040" cy="640080"/>
          </a:xfrm>
          <a:prstGeom prst="rect">
            <a:avLst/>
          </a:prstGeom>
          <a:noFill/>
          <a:ln/>
        </p:spPr>
        <p:txBody>
          <a:bodyPr wrap="square" rtlCol="0" anchor="ctr"/>
          <a:lstStyle/>
          <a:p>
            <a:pPr marL="0" indent="0">
              <a:buNone/>
            </a:pPr>
            <a:r>
              <a:rPr lang="en-US" sz="2400" i="1" dirty="0">
                <a:solidFill>
                  <a:srgbClr val="CADCE8"/>
                </a:solidFill>
                <a:latin typeface="Cambria" pitchFamily="34" charset="0"/>
                <a:ea typeface="Cambria" pitchFamily="34" charset="-122"/>
                <a:cs typeface="Cambria" pitchFamily="34" charset="-120"/>
              </a:rPr>
              <a:t>Indicateurs d'audit de 160 serveurs</a:t>
            </a:r>
            <a:endParaRPr lang="en-US" sz="2400" dirty="0"/>
          </a:p>
        </p:txBody>
      </p:sp>
      <p:sp>
        <p:nvSpPr>
          <p:cNvPr id="10" name="Text 7"/>
          <p:cNvSpPr/>
          <p:nvPr/>
        </p:nvSpPr>
        <p:spPr>
          <a:xfrm>
            <a:off x="640080" y="3794760"/>
            <a:ext cx="8961120" cy="731520"/>
          </a:xfrm>
          <a:prstGeom prst="rect">
            <a:avLst/>
          </a:prstGeom>
          <a:noFill/>
          <a:ln/>
        </p:spPr>
        <p:txBody>
          <a:bodyPr wrap="square" rtlCol="0" anchor="t"/>
          <a:lstStyle/>
          <a:p>
            <a:pPr marL="0" indent="0">
              <a:buNone/>
            </a:pPr>
            <a:r>
              <a:rPr lang="en-US" sz="1500" dirty="0">
                <a:solidFill>
                  <a:srgbClr val="D7E2EC"/>
                </a:solidFill>
                <a:latin typeface="Calibri" pitchFamily="34" charset="0"/>
                <a:ea typeface="Calibri" pitchFamily="34" charset="-122"/>
                <a:cs typeface="Calibri" pitchFamily="34" charset="-120"/>
              </a:rPr>
              <a:t>Résumer 11 indicateurs de charge, sécurité et résilience </a:t>
            </a:r>
            <a:r>
              <a:rPr lang="en-US" sz="1500" b="1" dirty="0">
                <a:solidFill>
                  <a:srgbClr val="E8A33D"/>
                </a:solidFill>
                <a:latin typeface="Calibri" pitchFamily="34" charset="0"/>
                <a:ea typeface="Calibri" pitchFamily="34" charset="-122"/>
                <a:cs typeface="Calibri" pitchFamily="34" charset="-120"/>
              </a:rPr>
              <a:t>en 3 axes interprétables</a:t>
            </a:r>
            <a:r>
              <a:rPr lang="en-US" sz="1500" dirty="0">
                <a:solidFill>
                  <a:srgbClr val="D7E2EC"/>
                </a:solidFill>
                <a:latin typeface="Calibri" pitchFamily="34" charset="0"/>
                <a:ea typeface="Calibri" pitchFamily="34" charset="-122"/>
                <a:cs typeface="Calibri" pitchFamily="34" charset="-120"/>
              </a:rPr>
              <a:t>, pour situer et prioriser les serveurs à examiner.</a:t>
            </a:r>
            <a:endParaRPr lang="en-US" sz="1500" dirty="0"/>
          </a:p>
        </p:txBody>
      </p:sp>
      <p:sp>
        <p:nvSpPr>
          <p:cNvPr id="11" name="Shape 8"/>
          <p:cNvSpPr/>
          <p:nvPr/>
        </p:nvSpPr>
        <p:spPr>
          <a:xfrm>
            <a:off x="640080" y="5349240"/>
            <a:ext cx="9418320" cy="868680"/>
          </a:xfrm>
          <a:prstGeom prst="roundRect">
            <a:avLst>
              <a:gd name="adj" fmla="val 9474"/>
            </a:avLst>
          </a:prstGeom>
          <a:solidFill>
            <a:srgbClr val="13324E"/>
          </a:solidFill>
          <a:ln w="12700">
            <a:solidFill>
              <a:srgbClr val="1E4562"/>
            </a:solidFill>
            <a:prstDash val="solid"/>
          </a:ln>
        </p:spPr>
        <p:txBody>
          <a:bodyPr/>
          <a:lstStyle/>
          <a:p>
            <a:endParaRPr lang="fr-FR"/>
          </a:p>
        </p:txBody>
      </p:sp>
      <p:pic>
        <p:nvPicPr>
          <p:cNvPr id="12" name="Image 1" descr="C:\Users\AS237666\AppData\Local\Temp\claude\C--Users-AS237666-StudioProjects-cia-invest-app\ee4fdbc2-3ba5-4c88-be2e-a026838ac83d\scratchpad\icons\shield_E8A33D.png"/>
          <p:cNvPicPr>
            <a:picLocks noChangeAspect="1"/>
          </p:cNvPicPr>
          <p:nvPr/>
        </p:nvPicPr>
        <p:blipFill>
          <a:blip r:embed="rId4"/>
          <a:stretch>
            <a:fillRect/>
          </a:stretch>
        </p:blipFill>
        <p:spPr>
          <a:xfrm>
            <a:off x="868680" y="5577840"/>
            <a:ext cx="411480" cy="411480"/>
          </a:xfrm>
          <a:prstGeom prst="rect">
            <a:avLst/>
          </a:prstGeom>
        </p:spPr>
      </p:pic>
      <p:sp>
        <p:nvSpPr>
          <p:cNvPr id="13" name="Text 9"/>
          <p:cNvSpPr/>
          <p:nvPr/>
        </p:nvSpPr>
        <p:spPr>
          <a:xfrm>
            <a:off x="1417320" y="5513832"/>
            <a:ext cx="8412480" cy="640080"/>
          </a:xfrm>
          <a:prstGeom prst="rect">
            <a:avLst/>
          </a:prstGeom>
          <a:noFill/>
          <a:ln/>
        </p:spPr>
        <p:txBody>
          <a:bodyPr wrap="square" rtlCol="0" anchor="ctr"/>
          <a:lstStyle/>
          <a:p>
            <a:pPr marL="0" indent="0">
              <a:buNone/>
            </a:pPr>
            <a:r>
              <a:rPr lang="en-US" sz="1250" i="1" dirty="0">
                <a:solidFill>
                  <a:srgbClr val="CADCE8"/>
                </a:solidFill>
                <a:latin typeface="Calibri" pitchFamily="34" charset="0"/>
                <a:ea typeface="Calibri" pitchFamily="34" charset="-122"/>
                <a:cs typeface="Calibri" pitchFamily="34" charset="-120"/>
              </a:rPr>
              <a:t>Données synthétiques : aucune mesure opérationnelle réelle ni diagnostic de sécurité ne peut être déduit des résultats présentés dans ce rapport.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PLAN DE LA PRÉSENTATION</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Une lecture en quatre temps</a:t>
            </a:r>
            <a:endParaRPr lang="en-US" sz="3000" dirty="0"/>
          </a:p>
        </p:txBody>
      </p:sp>
      <p:sp>
        <p:nvSpPr>
          <p:cNvPr id="4" name="Shape 2"/>
          <p:cNvSpPr/>
          <p:nvPr/>
        </p:nvSpPr>
        <p:spPr>
          <a:xfrm>
            <a:off x="502920" y="1874520"/>
            <a:ext cx="11201400" cy="1078992"/>
          </a:xfrm>
          <a:prstGeom prst="roundRect">
            <a:avLst>
              <a:gd name="adj" fmla="val 762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5" name="Text 3"/>
          <p:cNvSpPr/>
          <p:nvPr/>
        </p:nvSpPr>
        <p:spPr>
          <a:xfrm>
            <a:off x="777240" y="1874520"/>
            <a:ext cx="914400" cy="1078992"/>
          </a:xfrm>
          <a:prstGeom prst="rect">
            <a:avLst/>
          </a:prstGeom>
          <a:noFill/>
          <a:ln/>
        </p:spPr>
        <p:txBody>
          <a:bodyPr wrap="square" rtlCol="0" anchor="ctr"/>
          <a:lstStyle/>
          <a:p>
            <a:pPr marL="0" indent="0">
              <a:buNone/>
            </a:pPr>
            <a:r>
              <a:rPr lang="en-US" sz="3000" b="1" dirty="0">
                <a:solidFill>
                  <a:srgbClr val="E3E8EE"/>
                </a:solidFill>
                <a:latin typeface="Cambria" pitchFamily="34" charset="0"/>
                <a:ea typeface="Cambria" pitchFamily="34" charset="-122"/>
                <a:cs typeface="Cambria" pitchFamily="34" charset="-120"/>
              </a:rPr>
              <a:t>01</a:t>
            </a:r>
            <a:endParaRPr lang="en-US" sz="3000" dirty="0"/>
          </a:p>
        </p:txBody>
      </p:sp>
      <p:sp>
        <p:nvSpPr>
          <p:cNvPr id="6" name="Shape 4"/>
          <p:cNvSpPr/>
          <p:nvPr/>
        </p:nvSpPr>
        <p:spPr>
          <a:xfrm>
            <a:off x="1600200" y="2130552"/>
            <a:ext cx="566928" cy="566928"/>
          </a:xfrm>
          <a:prstGeom prst="ellipse">
            <a:avLst/>
          </a:prstGeom>
          <a:solidFill>
            <a:srgbClr val="1C7293"/>
          </a:solidFill>
          <a:ln/>
        </p:spPr>
        <p:txBody>
          <a:bodyPr/>
          <a:lstStyle/>
          <a:p>
            <a:endParaRPr lang="fr-FR"/>
          </a:p>
        </p:txBody>
      </p:sp>
      <p:pic>
        <p:nvPicPr>
          <p:cNvPr id="7" name="Image 0" descr="C:\Users\AS237666\AppData\Local\Temp\claude\C--Users-AS237666-StudioProjects-cia-invest-app\ee4fdbc2-3ba5-4c88-be2e-a026838ac83d\scratchpad\icons\database_FFFFFF.png"/>
          <p:cNvPicPr>
            <a:picLocks noChangeAspect="1"/>
          </p:cNvPicPr>
          <p:nvPr/>
        </p:nvPicPr>
        <p:blipFill>
          <a:blip r:embed="rId3"/>
          <a:stretch>
            <a:fillRect/>
          </a:stretch>
        </p:blipFill>
        <p:spPr>
          <a:xfrm>
            <a:off x="1673901" y="2204253"/>
            <a:ext cx="419527" cy="419527"/>
          </a:xfrm>
          <a:prstGeom prst="rect">
            <a:avLst/>
          </a:prstGeom>
        </p:spPr>
      </p:pic>
      <p:sp>
        <p:nvSpPr>
          <p:cNvPr id="8" name="Text 5"/>
          <p:cNvSpPr/>
          <p:nvPr/>
        </p:nvSpPr>
        <p:spPr>
          <a:xfrm>
            <a:off x="2423160" y="2011680"/>
            <a:ext cx="3657600" cy="457200"/>
          </a:xfrm>
          <a:prstGeom prst="rect">
            <a:avLst/>
          </a:prstGeom>
          <a:noFill/>
          <a:ln/>
        </p:spPr>
        <p:txBody>
          <a:bodyPr wrap="square" rtlCol="0" anchor="ctr"/>
          <a:lstStyle/>
          <a:p>
            <a:pPr marL="0" indent="0">
              <a:buNone/>
            </a:pPr>
            <a:r>
              <a:rPr lang="en-US" sz="1700" b="1" dirty="0">
                <a:solidFill>
                  <a:srgbClr val="0F2A43"/>
                </a:solidFill>
                <a:latin typeface="Cambria" pitchFamily="34" charset="0"/>
                <a:ea typeface="Cambria" pitchFamily="34" charset="-122"/>
                <a:cs typeface="Cambria" pitchFamily="34" charset="-120"/>
              </a:rPr>
              <a:t>Contexte &amp; données</a:t>
            </a:r>
            <a:endParaRPr lang="en-US" sz="1700" dirty="0"/>
          </a:p>
        </p:txBody>
      </p:sp>
      <p:sp>
        <p:nvSpPr>
          <p:cNvPr id="9" name="Text 6"/>
          <p:cNvSpPr/>
          <p:nvPr/>
        </p:nvSpPr>
        <p:spPr>
          <a:xfrm>
            <a:off x="6126480" y="1874520"/>
            <a:ext cx="5394960" cy="1078992"/>
          </a:xfrm>
          <a:prstGeom prst="rect">
            <a:avLst/>
          </a:prstGeom>
          <a:noFill/>
          <a:ln/>
        </p:spPr>
        <p:txBody>
          <a:bodyPr wrap="square" rtlCol="0" anchor="ctr"/>
          <a:lstStyle/>
          <a:p>
            <a:pPr marL="0" indent="0">
              <a:buNone/>
            </a:pPr>
            <a:r>
              <a:rPr lang="en-US" sz="1250" dirty="0">
                <a:solidFill>
                  <a:srgbClr val="5A6B7D"/>
                </a:solidFill>
                <a:latin typeface="Calibri" pitchFamily="34" charset="0"/>
                <a:ea typeface="Calibri" pitchFamily="34" charset="-122"/>
                <a:cs typeface="Calibri" pitchFamily="34" charset="-120"/>
              </a:rPr>
              <a:t>160 serveurs, 11 indicateurs actifs, choix de la méthode (corrélation).</a:t>
            </a:r>
            <a:endParaRPr lang="en-US" sz="1250" dirty="0"/>
          </a:p>
        </p:txBody>
      </p:sp>
      <p:sp>
        <p:nvSpPr>
          <p:cNvPr id="10" name="Shape 7"/>
          <p:cNvSpPr/>
          <p:nvPr/>
        </p:nvSpPr>
        <p:spPr>
          <a:xfrm>
            <a:off x="502920" y="3090672"/>
            <a:ext cx="11201400" cy="1078992"/>
          </a:xfrm>
          <a:prstGeom prst="roundRect">
            <a:avLst>
              <a:gd name="adj" fmla="val 762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1" name="Text 8"/>
          <p:cNvSpPr/>
          <p:nvPr/>
        </p:nvSpPr>
        <p:spPr>
          <a:xfrm>
            <a:off x="777240" y="3090672"/>
            <a:ext cx="914400" cy="1078992"/>
          </a:xfrm>
          <a:prstGeom prst="rect">
            <a:avLst/>
          </a:prstGeom>
          <a:noFill/>
          <a:ln/>
        </p:spPr>
        <p:txBody>
          <a:bodyPr wrap="square" rtlCol="0" anchor="ctr"/>
          <a:lstStyle/>
          <a:p>
            <a:pPr marL="0" indent="0">
              <a:buNone/>
            </a:pPr>
            <a:r>
              <a:rPr lang="en-US" sz="3000" b="1" dirty="0">
                <a:solidFill>
                  <a:srgbClr val="E3E8EE"/>
                </a:solidFill>
                <a:latin typeface="Cambria" pitchFamily="34" charset="0"/>
                <a:ea typeface="Cambria" pitchFamily="34" charset="-122"/>
                <a:cs typeface="Cambria" pitchFamily="34" charset="-120"/>
              </a:rPr>
              <a:t>02</a:t>
            </a:r>
            <a:endParaRPr lang="en-US" sz="3000" dirty="0"/>
          </a:p>
        </p:txBody>
      </p:sp>
      <p:sp>
        <p:nvSpPr>
          <p:cNvPr id="12" name="Shape 9"/>
          <p:cNvSpPr/>
          <p:nvPr/>
        </p:nvSpPr>
        <p:spPr>
          <a:xfrm>
            <a:off x="1600200" y="3346704"/>
            <a:ext cx="566928" cy="566928"/>
          </a:xfrm>
          <a:prstGeom prst="ellipse">
            <a:avLst/>
          </a:prstGeom>
          <a:solidFill>
            <a:srgbClr val="E8A33D"/>
          </a:solidFill>
          <a:ln/>
        </p:spPr>
        <p:txBody>
          <a:bodyPr/>
          <a:lstStyle/>
          <a:p>
            <a:endParaRPr lang="fr-FR"/>
          </a:p>
        </p:txBody>
      </p:sp>
      <p:pic>
        <p:nvPicPr>
          <p:cNvPr id="13" name="Image 1" descr="C:\Users\AS237666\AppData\Local\Temp\claude\C--Users-AS237666-StudioProjects-cia-invest-app\ee4fdbc2-3ba5-4c88-be2e-a026838ac83d\scratchpad\icons\chart_FFFFFF.png"/>
          <p:cNvPicPr>
            <a:picLocks noChangeAspect="1"/>
          </p:cNvPicPr>
          <p:nvPr/>
        </p:nvPicPr>
        <p:blipFill>
          <a:blip r:embed="rId4"/>
          <a:stretch>
            <a:fillRect/>
          </a:stretch>
        </p:blipFill>
        <p:spPr>
          <a:xfrm>
            <a:off x="1673901" y="3420405"/>
            <a:ext cx="419527" cy="419527"/>
          </a:xfrm>
          <a:prstGeom prst="rect">
            <a:avLst/>
          </a:prstGeom>
        </p:spPr>
      </p:pic>
      <p:sp>
        <p:nvSpPr>
          <p:cNvPr id="14" name="Text 10"/>
          <p:cNvSpPr/>
          <p:nvPr/>
        </p:nvSpPr>
        <p:spPr>
          <a:xfrm>
            <a:off x="2423160" y="3227832"/>
            <a:ext cx="3657600" cy="457200"/>
          </a:xfrm>
          <a:prstGeom prst="rect">
            <a:avLst/>
          </a:prstGeom>
          <a:noFill/>
          <a:ln/>
        </p:spPr>
        <p:txBody>
          <a:bodyPr wrap="square" rtlCol="0" anchor="ctr"/>
          <a:lstStyle/>
          <a:p>
            <a:pPr marL="0" indent="0">
              <a:buNone/>
            </a:pPr>
            <a:r>
              <a:rPr lang="en-US" sz="1700" b="1" dirty="0">
                <a:solidFill>
                  <a:srgbClr val="0F2A43"/>
                </a:solidFill>
                <a:latin typeface="Cambria" pitchFamily="34" charset="0"/>
                <a:ea typeface="Cambria" pitchFamily="34" charset="-122"/>
                <a:cs typeface="Cambria" pitchFamily="34" charset="-120"/>
              </a:rPr>
              <a:t>Construction des axes</a:t>
            </a:r>
            <a:endParaRPr lang="en-US" sz="1700" dirty="0"/>
          </a:p>
        </p:txBody>
      </p:sp>
      <p:sp>
        <p:nvSpPr>
          <p:cNvPr id="15" name="Text 11"/>
          <p:cNvSpPr/>
          <p:nvPr/>
        </p:nvSpPr>
        <p:spPr>
          <a:xfrm>
            <a:off x="6126480" y="3090672"/>
            <a:ext cx="5394960" cy="1078992"/>
          </a:xfrm>
          <a:prstGeom prst="rect">
            <a:avLst/>
          </a:prstGeom>
          <a:noFill/>
          <a:ln/>
        </p:spPr>
        <p:txBody>
          <a:bodyPr wrap="square" rtlCol="0" anchor="ctr"/>
          <a:lstStyle/>
          <a:p>
            <a:pPr marL="0" indent="0">
              <a:buNone/>
            </a:pPr>
            <a:r>
              <a:rPr lang="en-US" sz="1250" dirty="0">
                <a:solidFill>
                  <a:srgbClr val="5A6B7D"/>
                </a:solidFill>
                <a:latin typeface="Calibri" pitchFamily="34" charset="0"/>
                <a:ea typeface="Calibri" pitchFamily="34" charset="-122"/>
                <a:cs typeface="Calibri" pitchFamily="34" charset="-120"/>
              </a:rPr>
              <a:t>Combien d'axes retenir, que représentent-ils, cercle des corrélations.</a:t>
            </a:r>
            <a:endParaRPr lang="en-US" sz="1250" dirty="0"/>
          </a:p>
        </p:txBody>
      </p:sp>
      <p:sp>
        <p:nvSpPr>
          <p:cNvPr id="16" name="Shape 12"/>
          <p:cNvSpPr/>
          <p:nvPr/>
        </p:nvSpPr>
        <p:spPr>
          <a:xfrm>
            <a:off x="502920" y="4306824"/>
            <a:ext cx="11201400" cy="1078992"/>
          </a:xfrm>
          <a:prstGeom prst="roundRect">
            <a:avLst>
              <a:gd name="adj" fmla="val 762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7" name="Text 13"/>
          <p:cNvSpPr/>
          <p:nvPr/>
        </p:nvSpPr>
        <p:spPr>
          <a:xfrm>
            <a:off x="777240" y="4306824"/>
            <a:ext cx="914400" cy="1078992"/>
          </a:xfrm>
          <a:prstGeom prst="rect">
            <a:avLst/>
          </a:prstGeom>
          <a:noFill/>
          <a:ln/>
        </p:spPr>
        <p:txBody>
          <a:bodyPr wrap="square" rtlCol="0" anchor="ctr"/>
          <a:lstStyle/>
          <a:p>
            <a:pPr marL="0" indent="0">
              <a:buNone/>
            </a:pPr>
            <a:r>
              <a:rPr lang="en-US" sz="3000" b="1" dirty="0">
                <a:solidFill>
                  <a:srgbClr val="E3E8EE"/>
                </a:solidFill>
                <a:latin typeface="Cambria" pitchFamily="34" charset="0"/>
                <a:ea typeface="Cambria" pitchFamily="34" charset="-122"/>
                <a:cs typeface="Cambria" pitchFamily="34" charset="-120"/>
              </a:rPr>
              <a:t>03</a:t>
            </a:r>
            <a:endParaRPr lang="en-US" sz="3000" dirty="0"/>
          </a:p>
        </p:txBody>
      </p:sp>
      <p:sp>
        <p:nvSpPr>
          <p:cNvPr id="18" name="Shape 14"/>
          <p:cNvSpPr/>
          <p:nvPr/>
        </p:nvSpPr>
        <p:spPr>
          <a:xfrm>
            <a:off x="1600200" y="4562856"/>
            <a:ext cx="566928" cy="566928"/>
          </a:xfrm>
          <a:prstGeom prst="ellipse">
            <a:avLst/>
          </a:prstGeom>
          <a:solidFill>
            <a:srgbClr val="3FA796"/>
          </a:solidFill>
          <a:ln/>
        </p:spPr>
        <p:txBody>
          <a:bodyPr/>
          <a:lstStyle/>
          <a:p>
            <a:endParaRPr lang="fr-FR"/>
          </a:p>
        </p:txBody>
      </p:sp>
      <p:pic>
        <p:nvPicPr>
          <p:cNvPr id="19" name="Image 2" descr="C:\Users\AS237666\AppData\Local\Temp\claude\C--Users-AS237666-StudioProjects-cia-invest-app\ee4fdbc2-3ba5-4c88-be2e-a026838ac83d\scratchpad\icons\crosshair_FFFFFF.png"/>
          <p:cNvPicPr>
            <a:picLocks noChangeAspect="1"/>
          </p:cNvPicPr>
          <p:nvPr/>
        </p:nvPicPr>
        <p:blipFill>
          <a:blip r:embed="rId5"/>
          <a:stretch>
            <a:fillRect/>
          </a:stretch>
        </p:blipFill>
        <p:spPr>
          <a:xfrm>
            <a:off x="1673901" y="4636557"/>
            <a:ext cx="419527" cy="419527"/>
          </a:xfrm>
          <a:prstGeom prst="rect">
            <a:avLst/>
          </a:prstGeom>
        </p:spPr>
      </p:pic>
      <p:sp>
        <p:nvSpPr>
          <p:cNvPr id="20" name="Text 15"/>
          <p:cNvSpPr/>
          <p:nvPr/>
        </p:nvSpPr>
        <p:spPr>
          <a:xfrm>
            <a:off x="2423160" y="4443984"/>
            <a:ext cx="3657600" cy="457200"/>
          </a:xfrm>
          <a:prstGeom prst="rect">
            <a:avLst/>
          </a:prstGeom>
          <a:noFill/>
          <a:ln/>
        </p:spPr>
        <p:txBody>
          <a:bodyPr wrap="square" rtlCol="0" anchor="ctr"/>
          <a:lstStyle/>
          <a:p>
            <a:pPr marL="0" indent="0">
              <a:buNone/>
            </a:pPr>
            <a:r>
              <a:rPr lang="en-US" sz="1700" b="1" dirty="0">
                <a:solidFill>
                  <a:srgbClr val="0F2A43"/>
                </a:solidFill>
                <a:latin typeface="Cambria" pitchFamily="34" charset="0"/>
                <a:ea typeface="Cambria" pitchFamily="34" charset="-122"/>
                <a:cs typeface="Cambria" pitchFamily="34" charset="-120"/>
              </a:rPr>
              <a:t>Lecture des individus</a:t>
            </a:r>
            <a:endParaRPr lang="en-US" sz="1700" dirty="0"/>
          </a:p>
        </p:txBody>
      </p:sp>
      <p:sp>
        <p:nvSpPr>
          <p:cNvPr id="21" name="Text 16"/>
          <p:cNvSpPr/>
          <p:nvPr/>
        </p:nvSpPr>
        <p:spPr>
          <a:xfrm>
            <a:off x="6126480" y="4306824"/>
            <a:ext cx="5394960" cy="1078992"/>
          </a:xfrm>
          <a:prstGeom prst="rect">
            <a:avLst/>
          </a:prstGeom>
          <a:noFill/>
          <a:ln/>
        </p:spPr>
        <p:txBody>
          <a:bodyPr wrap="square" rtlCol="0" anchor="ctr"/>
          <a:lstStyle/>
          <a:p>
            <a:pPr marL="0" indent="0">
              <a:buNone/>
            </a:pPr>
            <a:r>
              <a:rPr lang="en-US" sz="1250" dirty="0">
                <a:solidFill>
                  <a:srgbClr val="5A6B7D"/>
                </a:solidFill>
                <a:latin typeface="Calibri" pitchFamily="34" charset="0"/>
                <a:ea typeface="Calibri" pitchFamily="34" charset="-122"/>
                <a:cs typeface="Calibri" pitchFamily="34" charset="-120"/>
              </a:rPr>
              <a:t>Projection, qualité de représentation, serveurs atypiques, reconstruction.</a:t>
            </a:r>
            <a:endParaRPr lang="en-US" sz="1250" dirty="0"/>
          </a:p>
        </p:txBody>
      </p:sp>
      <p:sp>
        <p:nvSpPr>
          <p:cNvPr id="22" name="Shape 17"/>
          <p:cNvSpPr/>
          <p:nvPr/>
        </p:nvSpPr>
        <p:spPr>
          <a:xfrm>
            <a:off x="502920" y="5522976"/>
            <a:ext cx="11201400" cy="1078992"/>
          </a:xfrm>
          <a:prstGeom prst="roundRect">
            <a:avLst>
              <a:gd name="adj" fmla="val 762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23" name="Text 18"/>
          <p:cNvSpPr/>
          <p:nvPr/>
        </p:nvSpPr>
        <p:spPr>
          <a:xfrm>
            <a:off x="777240" y="5522976"/>
            <a:ext cx="914400" cy="1078992"/>
          </a:xfrm>
          <a:prstGeom prst="rect">
            <a:avLst/>
          </a:prstGeom>
          <a:noFill/>
          <a:ln/>
        </p:spPr>
        <p:txBody>
          <a:bodyPr wrap="square" rtlCol="0" anchor="ctr"/>
          <a:lstStyle/>
          <a:p>
            <a:pPr marL="0" indent="0">
              <a:buNone/>
            </a:pPr>
            <a:r>
              <a:rPr lang="en-US" sz="3000" b="1" dirty="0">
                <a:solidFill>
                  <a:srgbClr val="E3E8EE"/>
                </a:solidFill>
                <a:latin typeface="Cambria" pitchFamily="34" charset="0"/>
                <a:ea typeface="Cambria" pitchFamily="34" charset="-122"/>
                <a:cs typeface="Cambria" pitchFamily="34" charset="-120"/>
              </a:rPr>
              <a:t>04</a:t>
            </a:r>
            <a:endParaRPr lang="en-US" sz="3000" dirty="0"/>
          </a:p>
        </p:txBody>
      </p:sp>
      <p:sp>
        <p:nvSpPr>
          <p:cNvPr id="24" name="Shape 19"/>
          <p:cNvSpPr/>
          <p:nvPr/>
        </p:nvSpPr>
        <p:spPr>
          <a:xfrm>
            <a:off x="1600200" y="5779008"/>
            <a:ext cx="566928" cy="566928"/>
          </a:xfrm>
          <a:prstGeom prst="ellipse">
            <a:avLst/>
          </a:prstGeom>
          <a:solidFill>
            <a:srgbClr val="0F2A43"/>
          </a:solidFill>
          <a:ln/>
        </p:spPr>
        <p:txBody>
          <a:bodyPr/>
          <a:lstStyle/>
          <a:p>
            <a:endParaRPr lang="fr-FR"/>
          </a:p>
        </p:txBody>
      </p:sp>
      <p:pic>
        <p:nvPicPr>
          <p:cNvPr id="25" name="Image 3" descr="C:\Users\AS237666\AppData\Local\Temp\claude\C--Users-AS237666-StudioProjects-cia-invest-app\ee4fdbc2-3ba5-4c88-be2e-a026838ac83d\scratchpad\icons\sync_FFFFFF.png"/>
          <p:cNvPicPr>
            <a:picLocks noChangeAspect="1"/>
          </p:cNvPicPr>
          <p:nvPr/>
        </p:nvPicPr>
        <p:blipFill>
          <a:blip r:embed="rId6"/>
          <a:stretch>
            <a:fillRect/>
          </a:stretch>
        </p:blipFill>
        <p:spPr>
          <a:xfrm>
            <a:off x="1673901" y="5852709"/>
            <a:ext cx="419527" cy="419527"/>
          </a:xfrm>
          <a:prstGeom prst="rect">
            <a:avLst/>
          </a:prstGeom>
        </p:spPr>
      </p:pic>
      <p:sp>
        <p:nvSpPr>
          <p:cNvPr id="26" name="Text 20"/>
          <p:cNvSpPr/>
          <p:nvPr/>
        </p:nvSpPr>
        <p:spPr>
          <a:xfrm>
            <a:off x="2423160" y="5660136"/>
            <a:ext cx="3657600" cy="457200"/>
          </a:xfrm>
          <a:prstGeom prst="rect">
            <a:avLst/>
          </a:prstGeom>
          <a:noFill/>
          <a:ln/>
        </p:spPr>
        <p:txBody>
          <a:bodyPr wrap="square" rtlCol="0" anchor="ctr"/>
          <a:lstStyle/>
          <a:p>
            <a:pPr marL="0" indent="0">
              <a:buNone/>
            </a:pPr>
            <a:r>
              <a:rPr lang="en-US" sz="1700" b="1" dirty="0">
                <a:solidFill>
                  <a:srgbClr val="0F2A43"/>
                </a:solidFill>
                <a:latin typeface="Cambria" pitchFamily="34" charset="0"/>
                <a:ea typeface="Cambria" pitchFamily="34" charset="-122"/>
                <a:cs typeface="Cambria" pitchFamily="34" charset="-120"/>
              </a:rPr>
              <a:t>Robustesse &amp; approfondissement</a:t>
            </a:r>
            <a:endParaRPr lang="en-US" sz="1700" dirty="0"/>
          </a:p>
        </p:txBody>
      </p:sp>
      <p:sp>
        <p:nvSpPr>
          <p:cNvPr id="27" name="Text 21"/>
          <p:cNvSpPr/>
          <p:nvPr/>
        </p:nvSpPr>
        <p:spPr>
          <a:xfrm>
            <a:off x="6126480" y="5522976"/>
            <a:ext cx="5394960" cy="1078992"/>
          </a:xfrm>
          <a:prstGeom prst="rect">
            <a:avLst/>
          </a:prstGeom>
          <a:noFill/>
          <a:ln/>
        </p:spPr>
        <p:txBody>
          <a:bodyPr wrap="square" rtlCol="0" anchor="ctr"/>
          <a:lstStyle/>
          <a:p>
            <a:pPr marL="0" indent="0">
              <a:buNone/>
            </a:pPr>
            <a:r>
              <a:rPr lang="en-US" sz="1250" dirty="0">
                <a:solidFill>
                  <a:srgbClr val="5A6B7D"/>
                </a:solidFill>
                <a:latin typeface="Calibri" pitchFamily="34" charset="0"/>
                <a:ea typeface="Calibri" pitchFamily="34" charset="-122"/>
                <a:cs typeface="Calibri" pitchFamily="34" charset="-120"/>
              </a:rPr>
              <a:t>Bootstrap, analyse parallèle, nouveau profil, tableau de bord, conclusion.</a:t>
            </a:r>
            <a:endParaRPr lang="en-US" sz="1250" dirty="0"/>
          </a:p>
        </p:txBody>
      </p:sp>
      <p:sp>
        <p:nvSpPr>
          <p:cNvPr id="28" name="Text 22"/>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9" name="Text 23"/>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01 · CONTEXTE &amp; DONNÉES</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Un audit synthétique de 160 serveurs</a:t>
            </a:r>
            <a:endParaRPr lang="en-US" sz="3000" dirty="0"/>
          </a:p>
        </p:txBody>
      </p:sp>
      <p:sp>
        <p:nvSpPr>
          <p:cNvPr id="4" name="Text 2"/>
          <p:cNvSpPr/>
          <p:nvPr/>
        </p:nvSpPr>
        <p:spPr>
          <a:xfrm>
            <a:off x="502920" y="1783080"/>
            <a:ext cx="6126480" cy="4206240"/>
          </a:xfrm>
          <a:prstGeom prst="rect">
            <a:avLst/>
          </a:prstGeom>
          <a:noFill/>
          <a:ln/>
        </p:spPr>
        <p:txBody>
          <a:bodyPr wrap="square" rtlCol="0" anchor="t"/>
          <a:lstStyle/>
          <a:p>
            <a:pPr marL="228600" indent="-228600">
              <a:spcAft>
                <a:spcPts val="1400"/>
              </a:spcAft>
              <a:buSzPct val="100000"/>
              <a:buChar char="▪"/>
            </a:pPr>
            <a:r>
              <a:rPr lang="en-US" sz="1400" dirty="0">
                <a:solidFill>
                  <a:srgbClr val="16263B"/>
                </a:solidFill>
                <a:latin typeface="Calibri" pitchFamily="34" charset="0"/>
                <a:ea typeface="Calibri" pitchFamily="34" charset="-122"/>
                <a:cs typeface="Calibri" pitchFamily="34" charset="-120"/>
              </a:rPr>
              <a:t>160 serveurs décrits par 11 indicateurs quantitatifs : charge, performance, exposition, sécurité, résilience.</a:t>
            </a:r>
            <a:endParaRPr lang="en-US" sz="1400" dirty="0"/>
          </a:p>
          <a:p>
            <a:pPr marL="228600" indent="-228600">
              <a:spcAft>
                <a:spcPts val="1400"/>
              </a:spcAft>
              <a:buSzPct val="100000"/>
              <a:buChar char="▪"/>
            </a:pPr>
            <a:r>
              <a:rPr lang="en-US" sz="1400" dirty="0">
                <a:solidFill>
                  <a:srgbClr val="16263B"/>
                </a:solidFill>
                <a:latin typeface="Calibri" pitchFamily="34" charset="0"/>
                <a:ea typeface="Calibri" pitchFamily="34" charset="-122"/>
                <a:cs typeface="Calibri" pitchFamily="34" charset="-120"/>
              </a:rPr>
              <a:t>Objectif : résumer ces indicateurs corrélés en un petit nombre d'axes interprétables, sans perdre d'information essentielle.</a:t>
            </a:r>
            <a:endParaRPr lang="en-US" sz="1400" dirty="0"/>
          </a:p>
          <a:p>
            <a:pPr marL="228600" indent="-228600">
              <a:spcAft>
                <a:spcPts val="1400"/>
              </a:spcAft>
              <a:buSzPct val="100000"/>
              <a:buChar char="▪"/>
            </a:pPr>
            <a:r>
              <a:rPr lang="en-US" sz="1400" dirty="0">
                <a:solidFill>
                  <a:srgbClr val="16263B"/>
                </a:solidFill>
                <a:latin typeface="Calibri" pitchFamily="34" charset="0"/>
                <a:ea typeface="Calibri" pitchFamily="34" charset="-122"/>
                <a:cs typeface="Calibri" pitchFamily="34" charset="-120"/>
              </a:rPr>
              <a:t>serveur_id (identifiant) et segment_synthetique (étiquette externe) sont exclus des variables actives — utilisés seulement a posteriori pour lire les résultats.</a:t>
            </a:r>
            <a:endParaRPr lang="en-US" sz="1400" dirty="0"/>
          </a:p>
          <a:p>
            <a:pPr marL="228600" indent="-228600">
              <a:spcAft>
                <a:spcPts val="1400"/>
              </a:spcAft>
              <a:buSzPct val="100000"/>
              <a:buChar char="▪"/>
            </a:pPr>
            <a:r>
              <a:rPr lang="en-US" sz="1400" dirty="0">
                <a:solidFill>
                  <a:srgbClr val="16263B"/>
                </a:solidFill>
                <a:latin typeface="Calibri" pitchFamily="34" charset="0"/>
                <a:ea typeface="Calibri" pitchFamily="34" charset="-122"/>
                <a:cs typeface="Calibri" pitchFamily="34" charset="-120"/>
              </a:rPr>
              <a:t>Le fichier source n'est jamais modifié ; toute suppression d'individu (Q12) est faite sur une copie en mémoire.</a:t>
            </a:r>
            <a:endParaRPr lang="en-US" sz="1400" dirty="0"/>
          </a:p>
        </p:txBody>
      </p:sp>
      <p:sp>
        <p:nvSpPr>
          <p:cNvPr id="5" name="Shape 3"/>
          <p:cNvSpPr/>
          <p:nvPr/>
        </p:nvSpPr>
        <p:spPr>
          <a:xfrm>
            <a:off x="6903720" y="1783080"/>
            <a:ext cx="4800600" cy="914400"/>
          </a:xfrm>
          <a:prstGeom prst="roundRect">
            <a:avLst>
              <a:gd name="adj" fmla="val 9000"/>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6" name="Shape 4"/>
          <p:cNvSpPr/>
          <p:nvPr/>
        </p:nvSpPr>
        <p:spPr>
          <a:xfrm>
            <a:off x="6903720" y="1783080"/>
            <a:ext cx="128016" cy="914400"/>
          </a:xfrm>
          <a:prstGeom prst="roundRect">
            <a:avLst>
              <a:gd name="adj" fmla="val 50000"/>
            </a:avLst>
          </a:prstGeom>
          <a:solidFill>
            <a:srgbClr val="1C7293"/>
          </a:solidFill>
          <a:ln/>
        </p:spPr>
        <p:txBody>
          <a:bodyPr/>
          <a:lstStyle/>
          <a:p>
            <a:endParaRPr lang="fr-FR"/>
          </a:p>
        </p:txBody>
      </p:sp>
      <p:sp>
        <p:nvSpPr>
          <p:cNvPr id="7" name="Text 5"/>
          <p:cNvSpPr/>
          <p:nvPr/>
        </p:nvSpPr>
        <p:spPr>
          <a:xfrm>
            <a:off x="7269480" y="1783080"/>
            <a:ext cx="1920240" cy="914400"/>
          </a:xfrm>
          <a:prstGeom prst="rect">
            <a:avLst/>
          </a:prstGeom>
          <a:noFill/>
          <a:ln/>
        </p:spPr>
        <p:txBody>
          <a:bodyPr wrap="square"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160</a:t>
            </a:r>
            <a:endParaRPr lang="en-US" sz="3200" dirty="0"/>
          </a:p>
        </p:txBody>
      </p:sp>
      <p:sp>
        <p:nvSpPr>
          <p:cNvPr id="8" name="Text 6"/>
          <p:cNvSpPr/>
          <p:nvPr/>
        </p:nvSpPr>
        <p:spPr>
          <a:xfrm>
            <a:off x="9189720" y="1783080"/>
            <a:ext cx="2377440" cy="914400"/>
          </a:xfrm>
          <a:prstGeom prst="rect">
            <a:avLst/>
          </a:prstGeom>
          <a:noFill/>
          <a:ln/>
        </p:spPr>
        <p:txBody>
          <a:bodyPr wrap="square" rtlCol="0" anchor="ctr"/>
          <a:lstStyle/>
          <a:p>
            <a:pPr marL="0" indent="0">
              <a:buNone/>
            </a:pPr>
            <a:r>
              <a:rPr lang="en-US" sz="1300" dirty="0">
                <a:solidFill>
                  <a:srgbClr val="5A6B7D"/>
                </a:solidFill>
                <a:latin typeface="Calibri" pitchFamily="34" charset="0"/>
                <a:ea typeface="Calibri" pitchFamily="34" charset="-122"/>
                <a:cs typeface="Calibri" pitchFamily="34" charset="-120"/>
              </a:rPr>
              <a:t>serveurs audités</a:t>
            </a:r>
            <a:endParaRPr lang="en-US" sz="1300" dirty="0"/>
          </a:p>
        </p:txBody>
      </p:sp>
      <p:sp>
        <p:nvSpPr>
          <p:cNvPr id="9" name="Shape 7"/>
          <p:cNvSpPr/>
          <p:nvPr/>
        </p:nvSpPr>
        <p:spPr>
          <a:xfrm>
            <a:off x="6903720" y="2834640"/>
            <a:ext cx="4800600" cy="914400"/>
          </a:xfrm>
          <a:prstGeom prst="roundRect">
            <a:avLst>
              <a:gd name="adj" fmla="val 9000"/>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0" name="Shape 8"/>
          <p:cNvSpPr/>
          <p:nvPr/>
        </p:nvSpPr>
        <p:spPr>
          <a:xfrm>
            <a:off x="6903720" y="2834640"/>
            <a:ext cx="128016" cy="914400"/>
          </a:xfrm>
          <a:prstGeom prst="roundRect">
            <a:avLst>
              <a:gd name="adj" fmla="val 50000"/>
            </a:avLst>
          </a:prstGeom>
          <a:solidFill>
            <a:srgbClr val="E8A33D"/>
          </a:solidFill>
          <a:ln/>
        </p:spPr>
        <p:txBody>
          <a:bodyPr/>
          <a:lstStyle/>
          <a:p>
            <a:endParaRPr lang="fr-FR"/>
          </a:p>
        </p:txBody>
      </p:sp>
      <p:sp>
        <p:nvSpPr>
          <p:cNvPr id="11" name="Text 9"/>
          <p:cNvSpPr/>
          <p:nvPr/>
        </p:nvSpPr>
        <p:spPr>
          <a:xfrm>
            <a:off x="7269480" y="2834640"/>
            <a:ext cx="1920240" cy="914400"/>
          </a:xfrm>
          <a:prstGeom prst="rect">
            <a:avLst/>
          </a:prstGeom>
          <a:noFill/>
          <a:ln/>
        </p:spPr>
        <p:txBody>
          <a:bodyPr wrap="square"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11</a:t>
            </a:r>
            <a:endParaRPr lang="en-US" sz="3200" dirty="0"/>
          </a:p>
        </p:txBody>
      </p:sp>
      <p:sp>
        <p:nvSpPr>
          <p:cNvPr id="12" name="Text 10"/>
          <p:cNvSpPr/>
          <p:nvPr/>
        </p:nvSpPr>
        <p:spPr>
          <a:xfrm>
            <a:off x="9189720" y="2834640"/>
            <a:ext cx="2377440" cy="914400"/>
          </a:xfrm>
          <a:prstGeom prst="rect">
            <a:avLst/>
          </a:prstGeom>
          <a:noFill/>
          <a:ln/>
        </p:spPr>
        <p:txBody>
          <a:bodyPr wrap="square" rtlCol="0" anchor="ctr"/>
          <a:lstStyle/>
          <a:p>
            <a:pPr marL="0" indent="0">
              <a:buNone/>
            </a:pPr>
            <a:r>
              <a:rPr lang="en-US" sz="1300" dirty="0">
                <a:solidFill>
                  <a:srgbClr val="5A6B7D"/>
                </a:solidFill>
                <a:latin typeface="Calibri" pitchFamily="34" charset="0"/>
                <a:ea typeface="Calibri" pitchFamily="34" charset="-122"/>
                <a:cs typeface="Calibri" pitchFamily="34" charset="-120"/>
              </a:rPr>
              <a:t>indicateurs actifs</a:t>
            </a:r>
            <a:endParaRPr lang="en-US" sz="1300" dirty="0"/>
          </a:p>
        </p:txBody>
      </p:sp>
      <p:sp>
        <p:nvSpPr>
          <p:cNvPr id="13" name="Shape 11"/>
          <p:cNvSpPr/>
          <p:nvPr/>
        </p:nvSpPr>
        <p:spPr>
          <a:xfrm>
            <a:off x="6903720" y="3886200"/>
            <a:ext cx="4800600" cy="914400"/>
          </a:xfrm>
          <a:prstGeom prst="roundRect">
            <a:avLst>
              <a:gd name="adj" fmla="val 9000"/>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4" name="Shape 12"/>
          <p:cNvSpPr/>
          <p:nvPr/>
        </p:nvSpPr>
        <p:spPr>
          <a:xfrm>
            <a:off x="6903720" y="3886200"/>
            <a:ext cx="128016" cy="914400"/>
          </a:xfrm>
          <a:prstGeom prst="roundRect">
            <a:avLst>
              <a:gd name="adj" fmla="val 50000"/>
            </a:avLst>
          </a:prstGeom>
          <a:solidFill>
            <a:srgbClr val="3FA796"/>
          </a:solidFill>
          <a:ln/>
        </p:spPr>
        <p:txBody>
          <a:bodyPr/>
          <a:lstStyle/>
          <a:p>
            <a:endParaRPr lang="fr-FR"/>
          </a:p>
        </p:txBody>
      </p:sp>
      <p:sp>
        <p:nvSpPr>
          <p:cNvPr id="15" name="Text 13"/>
          <p:cNvSpPr/>
          <p:nvPr/>
        </p:nvSpPr>
        <p:spPr>
          <a:xfrm>
            <a:off x="7269480" y="3886200"/>
            <a:ext cx="1920240" cy="914400"/>
          </a:xfrm>
          <a:prstGeom prst="rect">
            <a:avLst/>
          </a:prstGeom>
          <a:noFill/>
          <a:ln/>
        </p:spPr>
        <p:txBody>
          <a:bodyPr wrap="square" rtlCol="0" anchor="ctr"/>
          <a:lstStyle/>
          <a:p>
            <a:pPr marL="0" indent="0">
              <a:buNone/>
            </a:pPr>
            <a:r>
              <a:rPr lang="en-US" sz="3200" b="1" dirty="0">
                <a:solidFill>
                  <a:srgbClr val="0F2A43"/>
                </a:solidFill>
                <a:latin typeface="Cambria" pitchFamily="34" charset="0"/>
                <a:ea typeface="Cambria" pitchFamily="34" charset="-122"/>
                <a:cs typeface="Cambria" pitchFamily="34" charset="-120"/>
              </a:rPr>
              <a:t>0</a:t>
            </a:r>
            <a:endParaRPr lang="en-US" sz="3200" dirty="0"/>
          </a:p>
        </p:txBody>
      </p:sp>
      <p:sp>
        <p:nvSpPr>
          <p:cNvPr id="16" name="Text 14"/>
          <p:cNvSpPr/>
          <p:nvPr/>
        </p:nvSpPr>
        <p:spPr>
          <a:xfrm>
            <a:off x="9189720" y="3886200"/>
            <a:ext cx="2377440" cy="914400"/>
          </a:xfrm>
          <a:prstGeom prst="rect">
            <a:avLst/>
          </a:prstGeom>
          <a:noFill/>
          <a:ln/>
        </p:spPr>
        <p:txBody>
          <a:bodyPr wrap="square" rtlCol="0" anchor="ctr"/>
          <a:lstStyle/>
          <a:p>
            <a:pPr marL="0" indent="0">
              <a:buNone/>
            </a:pPr>
            <a:r>
              <a:rPr lang="en-US" sz="1300" dirty="0">
                <a:solidFill>
                  <a:srgbClr val="5A6B7D"/>
                </a:solidFill>
                <a:latin typeface="Calibri" pitchFamily="34" charset="0"/>
                <a:ea typeface="Calibri" pitchFamily="34" charset="-122"/>
                <a:cs typeface="Calibri" pitchFamily="34" charset="-120"/>
              </a:rPr>
              <a:t>doublon / valeur manquante</a:t>
            </a:r>
            <a:endParaRPr lang="en-US" sz="1300" dirty="0"/>
          </a:p>
        </p:txBody>
      </p:sp>
      <p:sp>
        <p:nvSpPr>
          <p:cNvPr id="17" name="Text 15"/>
          <p:cNvSpPr/>
          <p:nvPr/>
        </p:nvSpPr>
        <p:spPr>
          <a:xfrm>
            <a:off x="6903720" y="4974336"/>
            <a:ext cx="4800600" cy="256032"/>
          </a:xfrm>
          <a:prstGeom prst="rect">
            <a:avLst/>
          </a:prstGeom>
          <a:noFill/>
          <a:ln/>
        </p:spPr>
        <p:txBody>
          <a:bodyPr wrap="square" rtlCol="0" anchor="ctr"/>
          <a:lstStyle/>
          <a:p>
            <a:pPr marL="0" indent="0">
              <a:buNone/>
            </a:pPr>
            <a:r>
              <a:rPr lang="en-US" sz="1200" b="1" dirty="0">
                <a:solidFill>
                  <a:srgbClr val="0F2A43"/>
                </a:solidFill>
                <a:latin typeface="Calibri" pitchFamily="34" charset="0"/>
                <a:ea typeface="Calibri" pitchFamily="34" charset="-122"/>
                <a:cs typeface="Calibri" pitchFamily="34" charset="-120"/>
              </a:rPr>
              <a:t>Répartition du segment externe (a posteriori)</a:t>
            </a:r>
            <a:endParaRPr lang="en-US" sz="1200" dirty="0"/>
          </a:p>
        </p:txBody>
      </p:sp>
      <p:sp>
        <p:nvSpPr>
          <p:cNvPr id="18" name="Shape 16"/>
          <p:cNvSpPr/>
          <p:nvPr/>
        </p:nvSpPr>
        <p:spPr>
          <a:xfrm>
            <a:off x="6921318" y="5482749"/>
            <a:ext cx="1527048" cy="621792"/>
          </a:xfrm>
          <a:prstGeom prst="roundRect">
            <a:avLst>
              <a:gd name="adj" fmla="val 5882"/>
            </a:avLst>
          </a:prstGeom>
          <a:solidFill>
            <a:srgbClr val="1C7293"/>
          </a:solidFill>
          <a:ln/>
        </p:spPr>
        <p:txBody>
          <a:bodyPr/>
          <a:lstStyle/>
          <a:p>
            <a:endParaRPr lang="fr-FR"/>
          </a:p>
        </p:txBody>
      </p:sp>
      <p:sp>
        <p:nvSpPr>
          <p:cNvPr id="19" name="Text 17"/>
          <p:cNvSpPr/>
          <p:nvPr/>
        </p:nvSpPr>
        <p:spPr>
          <a:xfrm>
            <a:off x="6903720" y="5230368"/>
            <a:ext cx="1527048" cy="201168"/>
          </a:xfrm>
          <a:prstGeom prst="rect">
            <a:avLst/>
          </a:prstGeom>
          <a:noFill/>
          <a:ln/>
        </p:spPr>
        <p:txBody>
          <a:bodyPr wrap="square" rtlCol="0" anchor="ctr"/>
          <a:lstStyle/>
          <a:p>
            <a:pPr marL="0" indent="0" algn="ctr">
              <a:buNone/>
            </a:pPr>
            <a:r>
              <a:rPr lang="en-US" sz="1100" b="1" dirty="0">
                <a:solidFill>
                  <a:srgbClr val="0F2A43"/>
                </a:solidFill>
                <a:latin typeface="Calibri" pitchFamily="34" charset="0"/>
                <a:ea typeface="Calibri" pitchFamily="34" charset="-122"/>
                <a:cs typeface="Calibri" pitchFamily="34" charset="-120"/>
              </a:rPr>
              <a:t>67</a:t>
            </a:r>
            <a:endParaRPr lang="en-US" sz="1100" dirty="0"/>
          </a:p>
        </p:txBody>
      </p:sp>
      <p:sp>
        <p:nvSpPr>
          <p:cNvPr id="20" name="Text 18"/>
          <p:cNvSpPr/>
          <p:nvPr/>
        </p:nvSpPr>
        <p:spPr>
          <a:xfrm>
            <a:off x="6903720" y="6135624"/>
            <a:ext cx="1618488" cy="237744"/>
          </a:xfrm>
          <a:prstGeom prst="rect">
            <a:avLst/>
          </a:prstGeom>
          <a:noFill/>
          <a:ln/>
        </p:spPr>
        <p:txBody>
          <a:bodyPr wrap="square" rtlCol="0" anchor="ctr"/>
          <a:lstStyle/>
          <a:p>
            <a:pPr marL="0" indent="0" algn="ctr">
              <a:buNone/>
            </a:pPr>
            <a:r>
              <a:rPr lang="en-US" sz="950" dirty="0">
                <a:solidFill>
                  <a:srgbClr val="5A6B7D"/>
                </a:solidFill>
                <a:latin typeface="Calibri" pitchFamily="34" charset="0"/>
                <a:ea typeface="Calibri" pitchFamily="34" charset="-122"/>
                <a:cs typeface="Calibri" pitchFamily="34" charset="-120"/>
              </a:rPr>
              <a:t>intermédiaire</a:t>
            </a:r>
            <a:endParaRPr lang="en-US" sz="950" dirty="0"/>
          </a:p>
        </p:txBody>
      </p:sp>
      <p:sp>
        <p:nvSpPr>
          <p:cNvPr id="21" name="Shape 19"/>
          <p:cNvSpPr/>
          <p:nvPr/>
        </p:nvSpPr>
        <p:spPr>
          <a:xfrm>
            <a:off x="8558784" y="5641820"/>
            <a:ext cx="1527048" cy="454743"/>
          </a:xfrm>
          <a:prstGeom prst="roundRect">
            <a:avLst>
              <a:gd name="adj" fmla="val 8043"/>
            </a:avLst>
          </a:prstGeom>
          <a:solidFill>
            <a:srgbClr val="3FA796"/>
          </a:solidFill>
          <a:ln/>
        </p:spPr>
        <p:txBody>
          <a:bodyPr/>
          <a:lstStyle/>
          <a:p>
            <a:endParaRPr lang="fr-FR"/>
          </a:p>
        </p:txBody>
      </p:sp>
      <p:sp>
        <p:nvSpPr>
          <p:cNvPr id="22" name="Text 20"/>
          <p:cNvSpPr/>
          <p:nvPr/>
        </p:nvSpPr>
        <p:spPr>
          <a:xfrm>
            <a:off x="8476488" y="5393027"/>
            <a:ext cx="1527048" cy="201168"/>
          </a:xfrm>
          <a:prstGeom prst="rect">
            <a:avLst/>
          </a:prstGeom>
          <a:noFill/>
          <a:ln/>
        </p:spPr>
        <p:txBody>
          <a:bodyPr wrap="square" rtlCol="0" anchor="ctr"/>
          <a:lstStyle/>
          <a:p>
            <a:pPr marL="0" indent="0" algn="ctr">
              <a:buNone/>
            </a:pPr>
            <a:r>
              <a:rPr lang="en-US" sz="1100" b="1" dirty="0">
                <a:solidFill>
                  <a:srgbClr val="0F2A43"/>
                </a:solidFill>
                <a:latin typeface="Calibri" pitchFamily="34" charset="0"/>
                <a:ea typeface="Calibri" pitchFamily="34" charset="-122"/>
                <a:cs typeface="Calibri" pitchFamily="34" charset="-120"/>
              </a:rPr>
              <a:t>49</a:t>
            </a:r>
            <a:endParaRPr lang="en-US" sz="1100" dirty="0"/>
          </a:p>
        </p:txBody>
      </p:sp>
      <p:sp>
        <p:nvSpPr>
          <p:cNvPr id="23" name="Text 21"/>
          <p:cNvSpPr/>
          <p:nvPr/>
        </p:nvSpPr>
        <p:spPr>
          <a:xfrm>
            <a:off x="8449056" y="6124927"/>
            <a:ext cx="1618488" cy="237744"/>
          </a:xfrm>
          <a:prstGeom prst="rect">
            <a:avLst/>
          </a:prstGeom>
          <a:noFill/>
          <a:ln/>
        </p:spPr>
        <p:txBody>
          <a:bodyPr wrap="square" rtlCol="0" anchor="ctr"/>
          <a:lstStyle/>
          <a:p>
            <a:pPr marL="0" indent="0" algn="ctr">
              <a:buNone/>
            </a:pPr>
            <a:r>
              <a:rPr lang="en-US" sz="950" dirty="0">
                <a:solidFill>
                  <a:srgbClr val="5A6B7D"/>
                </a:solidFill>
                <a:latin typeface="Calibri" pitchFamily="34" charset="0"/>
                <a:ea typeface="Calibri" pitchFamily="34" charset="-122"/>
                <a:cs typeface="Calibri" pitchFamily="34" charset="-120"/>
              </a:rPr>
              <a:t>peu exposé</a:t>
            </a:r>
            <a:endParaRPr lang="en-US" sz="950" dirty="0"/>
          </a:p>
        </p:txBody>
      </p:sp>
      <p:sp>
        <p:nvSpPr>
          <p:cNvPr id="24" name="Shape 22"/>
          <p:cNvSpPr/>
          <p:nvPr/>
        </p:nvSpPr>
        <p:spPr>
          <a:xfrm>
            <a:off x="10254996" y="5702853"/>
            <a:ext cx="1527048" cy="408341"/>
          </a:xfrm>
          <a:prstGeom prst="roundRect">
            <a:avLst>
              <a:gd name="adj" fmla="val 8957"/>
            </a:avLst>
          </a:prstGeom>
          <a:solidFill>
            <a:srgbClr val="E8A33D"/>
          </a:solidFill>
          <a:ln/>
        </p:spPr>
        <p:txBody>
          <a:bodyPr/>
          <a:lstStyle/>
          <a:p>
            <a:endParaRPr lang="fr-FR"/>
          </a:p>
        </p:txBody>
      </p:sp>
      <p:sp>
        <p:nvSpPr>
          <p:cNvPr id="25" name="Text 23"/>
          <p:cNvSpPr/>
          <p:nvPr/>
        </p:nvSpPr>
        <p:spPr>
          <a:xfrm>
            <a:off x="10207447" y="5456345"/>
            <a:ext cx="1527048" cy="201168"/>
          </a:xfrm>
          <a:prstGeom prst="rect">
            <a:avLst/>
          </a:prstGeom>
          <a:noFill/>
          <a:ln/>
        </p:spPr>
        <p:txBody>
          <a:bodyPr wrap="square" rtlCol="0" anchor="ctr"/>
          <a:lstStyle/>
          <a:p>
            <a:pPr marL="0" indent="0" algn="ctr">
              <a:buNone/>
            </a:pPr>
            <a:r>
              <a:rPr lang="en-US" sz="1100" b="1" dirty="0">
                <a:solidFill>
                  <a:srgbClr val="0F2A43"/>
                </a:solidFill>
                <a:latin typeface="Calibri" pitchFamily="34" charset="0"/>
                <a:ea typeface="Calibri" pitchFamily="34" charset="-122"/>
                <a:cs typeface="Calibri" pitchFamily="34" charset="-120"/>
              </a:rPr>
              <a:t>44</a:t>
            </a:r>
            <a:endParaRPr lang="en-US" sz="1100" dirty="0"/>
          </a:p>
        </p:txBody>
      </p:sp>
      <p:sp>
        <p:nvSpPr>
          <p:cNvPr id="26" name="Text 24"/>
          <p:cNvSpPr/>
          <p:nvPr/>
        </p:nvSpPr>
        <p:spPr>
          <a:xfrm>
            <a:off x="10085832" y="6124927"/>
            <a:ext cx="1618488" cy="237744"/>
          </a:xfrm>
          <a:prstGeom prst="rect">
            <a:avLst/>
          </a:prstGeom>
          <a:noFill/>
          <a:ln/>
        </p:spPr>
        <p:txBody>
          <a:bodyPr wrap="square" rtlCol="0" anchor="ctr"/>
          <a:lstStyle/>
          <a:p>
            <a:pPr marL="0" indent="0" algn="ctr">
              <a:buNone/>
            </a:pPr>
            <a:r>
              <a:rPr lang="en-US" sz="950" dirty="0">
                <a:solidFill>
                  <a:srgbClr val="5A6B7D"/>
                </a:solidFill>
                <a:latin typeface="Calibri" pitchFamily="34" charset="0"/>
                <a:ea typeface="Calibri" pitchFamily="34" charset="-122"/>
                <a:cs typeface="Calibri" pitchFamily="34" charset="-120"/>
              </a:rPr>
              <a:t>exposé</a:t>
            </a:r>
            <a:endParaRPr lang="en-US" sz="950" dirty="0"/>
          </a:p>
        </p:txBody>
      </p:sp>
      <p:sp>
        <p:nvSpPr>
          <p:cNvPr id="27" name="Text 25"/>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8" name="Text 26"/>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01 · QUESTION 1</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Import et inspection des données</a:t>
            </a:r>
            <a:endParaRPr lang="en-US" sz="3000" dirty="0"/>
          </a:p>
        </p:txBody>
      </p:sp>
      <p:sp>
        <p:nvSpPr>
          <p:cNvPr id="4" name="Text 2"/>
          <p:cNvSpPr/>
          <p:nvPr/>
        </p:nvSpPr>
        <p:spPr>
          <a:xfrm>
            <a:off x="502920" y="1783080"/>
            <a:ext cx="6537960" cy="4480560"/>
          </a:xfrm>
          <a:prstGeom prst="rect">
            <a:avLst/>
          </a:prstGeom>
          <a:noFill/>
          <a:ln/>
        </p:spPr>
        <p:txBody>
          <a:bodyPr wrap="square" rtlCol="0" anchor="t"/>
          <a:lstStyle/>
          <a:p>
            <a:pPr marL="228600" indent="-228600">
              <a:spcAft>
                <a:spcPts val="1300"/>
              </a:spcAft>
              <a:buSzPct val="100000"/>
              <a:buChar char="▪"/>
            </a:pPr>
            <a:r>
              <a:rPr lang="en-US" sz="1350" dirty="0">
                <a:solidFill>
                  <a:srgbClr val="16263B"/>
                </a:solidFill>
                <a:latin typeface="Calibri" pitchFamily="34" charset="0"/>
                <a:ea typeface="Calibri" pitchFamily="34" charset="-122"/>
                <a:cs typeface="Calibri" pitchFamily="34" charset="-120"/>
              </a:rPr>
              <a:t>Fichier de 160 lignes × 13 colonnes, sans doublon ni valeur manquante.</a:t>
            </a:r>
            <a:endParaRPr lang="en-US" sz="1350" dirty="0"/>
          </a:p>
          <a:p>
            <a:pPr marL="228600" indent="-228600">
              <a:spcAft>
                <a:spcPts val="1300"/>
              </a:spcAft>
              <a:buSzPct val="100000"/>
              <a:buChar char="▪"/>
            </a:pPr>
            <a:r>
              <a:rPr lang="en-US" sz="1350" dirty="0">
                <a:solidFill>
                  <a:srgbClr val="16263B"/>
                </a:solidFill>
                <a:latin typeface="Calibri" pitchFamily="34" charset="0"/>
                <a:ea typeface="Calibri" pitchFamily="34" charset="-122"/>
                <a:cs typeface="Calibri" pitchFamily="34" charset="-120"/>
              </a:rPr>
              <a:t>11 variables actives retenues pour l'ACP : cpu_pct, ram_pct, trafic_mbps, latence_ms, tentatives_intrusion, ports_exposes, vulnerabilites_ouvertes, jours_depuis_correctif, disponibilite_pct, temps_retablissement_min, sauvegardes_reussies_pct.</a:t>
            </a:r>
            <a:endParaRPr lang="en-US" sz="1350" dirty="0"/>
          </a:p>
          <a:p>
            <a:pPr marL="228600" indent="-228600">
              <a:spcAft>
                <a:spcPts val="1300"/>
              </a:spcAft>
              <a:buSzPct val="100000"/>
              <a:buChar char="▪"/>
            </a:pPr>
            <a:r>
              <a:rPr lang="en-US" sz="1350" dirty="0">
                <a:solidFill>
                  <a:srgbClr val="16263B"/>
                </a:solidFill>
                <a:latin typeface="Calibri" pitchFamily="34" charset="0"/>
                <a:ea typeface="Calibri" pitchFamily="34" charset="-122"/>
                <a:cs typeface="Calibri" pitchFamily="34" charset="-120"/>
              </a:rPr>
              <a:t>serveur_id : identifiant sans contenu numérique interprétable → exclu.</a:t>
            </a:r>
            <a:endParaRPr lang="en-US" sz="1350" dirty="0"/>
          </a:p>
          <a:p>
            <a:pPr marL="228600" indent="-228600">
              <a:spcAft>
                <a:spcPts val="1300"/>
              </a:spcAft>
              <a:buSzPct val="100000"/>
              <a:buChar char="▪"/>
            </a:pPr>
            <a:r>
              <a:rPr lang="en-US" sz="1350" dirty="0">
                <a:solidFill>
                  <a:srgbClr val="16263B"/>
                </a:solidFill>
                <a:latin typeface="Calibri" pitchFamily="34" charset="0"/>
                <a:ea typeface="Calibri" pitchFamily="34" charset="-122"/>
                <a:cs typeface="Calibri" pitchFamily="34" charset="-120"/>
              </a:rPr>
              <a:t>segment_synthetique : étiquette externe construite indépendamment des mesures → comparée seulement a posteriori, pour éviter un raisonnement circulaire.</a:t>
            </a:r>
            <a:endParaRPr lang="en-US" sz="1350" dirty="0"/>
          </a:p>
        </p:txBody>
      </p:sp>
      <p:sp>
        <p:nvSpPr>
          <p:cNvPr id="5" name="Shape 3"/>
          <p:cNvSpPr/>
          <p:nvPr/>
        </p:nvSpPr>
        <p:spPr>
          <a:xfrm>
            <a:off x="7315200" y="1783080"/>
            <a:ext cx="4389120" cy="4343400"/>
          </a:xfrm>
          <a:prstGeom prst="roundRect">
            <a:avLst>
              <a:gd name="adj" fmla="val 189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6" name="Shape 4"/>
          <p:cNvSpPr/>
          <p:nvPr/>
        </p:nvSpPr>
        <p:spPr>
          <a:xfrm>
            <a:off x="7635240" y="2057400"/>
            <a:ext cx="502920" cy="502920"/>
          </a:xfrm>
          <a:prstGeom prst="ellipse">
            <a:avLst/>
          </a:prstGeom>
          <a:solidFill>
            <a:srgbClr val="1C7293"/>
          </a:solidFill>
          <a:ln/>
        </p:spPr>
        <p:txBody>
          <a:bodyPr/>
          <a:lstStyle/>
          <a:p>
            <a:endParaRPr lang="fr-FR"/>
          </a:p>
        </p:txBody>
      </p:sp>
      <p:pic>
        <p:nvPicPr>
          <p:cNvPr id="7" name="Image 0" descr="C:\Users\AS237666\AppData\Local\Temp\claude\C--Users-AS237666-StudioProjects-cia-invest-app\ee4fdbc2-3ba5-4c88-be2e-a026838ac83d\scratchpad\icons\search_FFFFFF.png"/>
          <p:cNvPicPr>
            <a:picLocks noChangeAspect="1"/>
          </p:cNvPicPr>
          <p:nvPr/>
        </p:nvPicPr>
        <p:blipFill>
          <a:blip r:embed="rId3"/>
          <a:stretch>
            <a:fillRect/>
          </a:stretch>
        </p:blipFill>
        <p:spPr>
          <a:xfrm>
            <a:off x="7700620" y="2122780"/>
            <a:ext cx="372161" cy="372161"/>
          </a:xfrm>
          <a:prstGeom prst="rect">
            <a:avLst/>
          </a:prstGeom>
        </p:spPr>
      </p:pic>
      <p:sp>
        <p:nvSpPr>
          <p:cNvPr id="8" name="Text 5"/>
          <p:cNvSpPr/>
          <p:nvPr/>
        </p:nvSpPr>
        <p:spPr>
          <a:xfrm>
            <a:off x="8321040" y="2103120"/>
            <a:ext cx="3200400" cy="457200"/>
          </a:xfrm>
          <a:prstGeom prst="rect">
            <a:avLst/>
          </a:prstGeom>
          <a:noFill/>
          <a:ln/>
        </p:spPr>
        <p:txBody>
          <a:bodyPr wrap="square" rtlCol="0" anchor="ctr"/>
          <a:lstStyle/>
          <a:p>
            <a:pPr marL="0" indent="0">
              <a:buNone/>
            </a:pPr>
            <a:r>
              <a:rPr lang="en-US" sz="1500" b="1" dirty="0">
                <a:solidFill>
                  <a:srgbClr val="0F2A43"/>
                </a:solidFill>
                <a:latin typeface="Cambria" pitchFamily="34" charset="0"/>
                <a:ea typeface="Cambria" pitchFamily="34" charset="-122"/>
                <a:cs typeface="Cambria" pitchFamily="34" charset="-120"/>
              </a:rPr>
              <a:t>11 variables actives</a:t>
            </a:r>
            <a:endParaRPr lang="en-US" sz="1500" dirty="0"/>
          </a:p>
        </p:txBody>
      </p:sp>
      <p:sp>
        <p:nvSpPr>
          <p:cNvPr id="9" name="Shape 6"/>
          <p:cNvSpPr/>
          <p:nvPr/>
        </p:nvSpPr>
        <p:spPr>
          <a:xfrm>
            <a:off x="7589520" y="2743200"/>
            <a:ext cx="741578"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10" name="Text 7"/>
          <p:cNvSpPr/>
          <p:nvPr/>
        </p:nvSpPr>
        <p:spPr>
          <a:xfrm>
            <a:off x="7589520" y="2743200"/>
            <a:ext cx="741578"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cpu_pct</a:t>
            </a:r>
            <a:endParaRPr lang="en-US" sz="950" dirty="0"/>
          </a:p>
        </p:txBody>
      </p:sp>
      <p:sp>
        <p:nvSpPr>
          <p:cNvPr id="11" name="Shape 8"/>
          <p:cNvSpPr/>
          <p:nvPr/>
        </p:nvSpPr>
        <p:spPr>
          <a:xfrm>
            <a:off x="8422538" y="2743200"/>
            <a:ext cx="741578"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12" name="Text 9"/>
          <p:cNvSpPr/>
          <p:nvPr/>
        </p:nvSpPr>
        <p:spPr>
          <a:xfrm>
            <a:off x="8422538" y="2743200"/>
            <a:ext cx="741578"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ram_pct</a:t>
            </a:r>
            <a:endParaRPr lang="en-US" sz="950" dirty="0"/>
          </a:p>
        </p:txBody>
      </p:sp>
      <p:sp>
        <p:nvSpPr>
          <p:cNvPr id="13" name="Shape 10"/>
          <p:cNvSpPr/>
          <p:nvPr/>
        </p:nvSpPr>
        <p:spPr>
          <a:xfrm>
            <a:off x="9255557" y="2743200"/>
            <a:ext cx="1081735"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14" name="Text 11"/>
          <p:cNvSpPr/>
          <p:nvPr/>
        </p:nvSpPr>
        <p:spPr>
          <a:xfrm>
            <a:off x="9255557" y="2743200"/>
            <a:ext cx="1081735"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trafic_mbps</a:t>
            </a:r>
            <a:endParaRPr lang="en-US" sz="950" dirty="0"/>
          </a:p>
        </p:txBody>
      </p:sp>
      <p:sp>
        <p:nvSpPr>
          <p:cNvPr id="15" name="Shape 12"/>
          <p:cNvSpPr/>
          <p:nvPr/>
        </p:nvSpPr>
        <p:spPr>
          <a:xfrm>
            <a:off x="10428732" y="2743200"/>
            <a:ext cx="996696"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16" name="Text 13"/>
          <p:cNvSpPr/>
          <p:nvPr/>
        </p:nvSpPr>
        <p:spPr>
          <a:xfrm>
            <a:off x="10428732" y="2743200"/>
            <a:ext cx="996696"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latence_ms</a:t>
            </a:r>
            <a:endParaRPr lang="en-US" sz="950" dirty="0"/>
          </a:p>
        </p:txBody>
      </p:sp>
      <p:sp>
        <p:nvSpPr>
          <p:cNvPr id="17" name="Shape 14"/>
          <p:cNvSpPr/>
          <p:nvPr/>
        </p:nvSpPr>
        <p:spPr>
          <a:xfrm>
            <a:off x="7589520" y="3200400"/>
            <a:ext cx="1847088"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18" name="Text 15"/>
          <p:cNvSpPr/>
          <p:nvPr/>
        </p:nvSpPr>
        <p:spPr>
          <a:xfrm>
            <a:off x="7589520" y="3200400"/>
            <a:ext cx="1847088"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tentatives_intrusion</a:t>
            </a:r>
            <a:endParaRPr lang="en-US" sz="950" dirty="0"/>
          </a:p>
        </p:txBody>
      </p:sp>
      <p:sp>
        <p:nvSpPr>
          <p:cNvPr id="19" name="Shape 16"/>
          <p:cNvSpPr/>
          <p:nvPr/>
        </p:nvSpPr>
        <p:spPr>
          <a:xfrm>
            <a:off x="9528048" y="3200400"/>
            <a:ext cx="1251814"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20" name="Text 17"/>
          <p:cNvSpPr/>
          <p:nvPr/>
        </p:nvSpPr>
        <p:spPr>
          <a:xfrm>
            <a:off x="9528048" y="3200400"/>
            <a:ext cx="1251814"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ports_exposes</a:t>
            </a:r>
            <a:endParaRPr lang="en-US" sz="950" dirty="0"/>
          </a:p>
        </p:txBody>
      </p:sp>
      <p:sp>
        <p:nvSpPr>
          <p:cNvPr id="21" name="Shape 18"/>
          <p:cNvSpPr/>
          <p:nvPr/>
        </p:nvSpPr>
        <p:spPr>
          <a:xfrm>
            <a:off x="7589520" y="3657600"/>
            <a:ext cx="2102206"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22" name="Text 19"/>
          <p:cNvSpPr/>
          <p:nvPr/>
        </p:nvSpPr>
        <p:spPr>
          <a:xfrm>
            <a:off x="7589520" y="3657600"/>
            <a:ext cx="2102206"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vulnerabilites_ouvertes</a:t>
            </a:r>
            <a:endParaRPr lang="en-US" sz="950" dirty="0"/>
          </a:p>
        </p:txBody>
      </p:sp>
      <p:sp>
        <p:nvSpPr>
          <p:cNvPr id="23" name="Shape 20"/>
          <p:cNvSpPr/>
          <p:nvPr/>
        </p:nvSpPr>
        <p:spPr>
          <a:xfrm>
            <a:off x="7589520" y="4114800"/>
            <a:ext cx="2017166"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24" name="Text 21"/>
          <p:cNvSpPr/>
          <p:nvPr/>
        </p:nvSpPr>
        <p:spPr>
          <a:xfrm>
            <a:off x="7589520" y="4114800"/>
            <a:ext cx="2017166"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jours_depuis_correctif</a:t>
            </a:r>
            <a:endParaRPr lang="en-US" sz="950" dirty="0"/>
          </a:p>
        </p:txBody>
      </p:sp>
      <p:sp>
        <p:nvSpPr>
          <p:cNvPr id="25" name="Shape 22"/>
          <p:cNvSpPr/>
          <p:nvPr/>
        </p:nvSpPr>
        <p:spPr>
          <a:xfrm>
            <a:off x="9698126" y="4114800"/>
            <a:ext cx="1591970"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26" name="Text 23"/>
          <p:cNvSpPr/>
          <p:nvPr/>
        </p:nvSpPr>
        <p:spPr>
          <a:xfrm>
            <a:off x="9698126" y="4114800"/>
            <a:ext cx="1591970"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disponibilite_pct</a:t>
            </a:r>
            <a:endParaRPr lang="en-US" sz="950" dirty="0"/>
          </a:p>
        </p:txBody>
      </p:sp>
      <p:sp>
        <p:nvSpPr>
          <p:cNvPr id="27" name="Shape 24"/>
          <p:cNvSpPr/>
          <p:nvPr/>
        </p:nvSpPr>
        <p:spPr>
          <a:xfrm>
            <a:off x="7589520" y="4572000"/>
            <a:ext cx="2187245"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28" name="Text 25"/>
          <p:cNvSpPr/>
          <p:nvPr/>
        </p:nvSpPr>
        <p:spPr>
          <a:xfrm>
            <a:off x="7589520" y="4572000"/>
            <a:ext cx="2187245"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temps_retablissement_min</a:t>
            </a:r>
            <a:endParaRPr lang="en-US" sz="950" dirty="0"/>
          </a:p>
        </p:txBody>
      </p:sp>
      <p:sp>
        <p:nvSpPr>
          <p:cNvPr id="29" name="Shape 26"/>
          <p:cNvSpPr/>
          <p:nvPr/>
        </p:nvSpPr>
        <p:spPr>
          <a:xfrm>
            <a:off x="7589520" y="5029200"/>
            <a:ext cx="2187245" cy="365760"/>
          </a:xfrm>
          <a:prstGeom prst="roundRect">
            <a:avLst>
              <a:gd name="adj" fmla="val 20000"/>
            </a:avLst>
          </a:prstGeom>
          <a:solidFill>
            <a:srgbClr val="F4F6F9"/>
          </a:solidFill>
          <a:ln w="12700">
            <a:solidFill>
              <a:srgbClr val="E3E8EE"/>
            </a:solidFill>
            <a:prstDash val="solid"/>
          </a:ln>
        </p:spPr>
        <p:txBody>
          <a:bodyPr/>
          <a:lstStyle/>
          <a:p>
            <a:endParaRPr lang="fr-FR"/>
          </a:p>
        </p:txBody>
      </p:sp>
      <p:sp>
        <p:nvSpPr>
          <p:cNvPr id="30" name="Text 27"/>
          <p:cNvSpPr/>
          <p:nvPr/>
        </p:nvSpPr>
        <p:spPr>
          <a:xfrm>
            <a:off x="7589520" y="5029200"/>
            <a:ext cx="2187245" cy="365760"/>
          </a:xfrm>
          <a:prstGeom prst="rect">
            <a:avLst/>
          </a:prstGeom>
          <a:noFill/>
          <a:ln/>
        </p:spPr>
        <p:txBody>
          <a:bodyPr wrap="square" rtlCol="0" anchor="ctr"/>
          <a:lstStyle/>
          <a:p>
            <a:pPr marL="0" indent="0" algn="ctr">
              <a:buNone/>
            </a:pPr>
            <a:r>
              <a:rPr lang="en-US" sz="950" dirty="0">
                <a:solidFill>
                  <a:srgbClr val="134C63"/>
                </a:solidFill>
                <a:latin typeface="Calibri" pitchFamily="34" charset="0"/>
                <a:ea typeface="Calibri" pitchFamily="34" charset="-122"/>
                <a:cs typeface="Calibri" pitchFamily="34" charset="-120"/>
              </a:rPr>
              <a:t>sauvegardes_reussies_pct</a:t>
            </a:r>
            <a:endParaRPr lang="en-US" sz="950" dirty="0"/>
          </a:p>
        </p:txBody>
      </p:sp>
      <p:sp>
        <p:nvSpPr>
          <p:cNvPr id="31" name="Text 28"/>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32" name="Text 29"/>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01 · QUESTION 2</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Corrélation plutôt que covariance</a:t>
            </a:r>
            <a:endParaRPr lang="en-US" sz="3000" dirty="0"/>
          </a:p>
        </p:txBody>
      </p:sp>
      <p:sp>
        <p:nvSpPr>
          <p:cNvPr id="4" name="Text 2"/>
          <p:cNvSpPr/>
          <p:nvPr/>
        </p:nvSpPr>
        <p:spPr>
          <a:xfrm>
            <a:off x="502920" y="1737360"/>
            <a:ext cx="6035040" cy="1234440"/>
          </a:xfrm>
          <a:prstGeom prst="rect">
            <a:avLst/>
          </a:prstGeom>
          <a:noFill/>
          <a:ln/>
        </p:spPr>
        <p:txBody>
          <a:bodyPr wrap="square" rtlCol="0" anchor="t"/>
          <a:lstStyle/>
          <a:p>
            <a:pPr marL="0" indent="0">
              <a:buNone/>
            </a:pPr>
            <a:r>
              <a:rPr lang="en-US" sz="1350" b="1" dirty="0">
                <a:solidFill>
                  <a:srgbClr val="0F2A43"/>
                </a:solidFill>
                <a:latin typeface="Calibri" pitchFamily="34" charset="0"/>
                <a:ea typeface="Calibri" pitchFamily="34" charset="-122"/>
                <a:cs typeface="Calibri" pitchFamily="34" charset="-120"/>
              </a:rPr>
              <a:t>Écarts-types hétérogènes : </a:t>
            </a:r>
            <a:r>
              <a:rPr lang="en-US" sz="1350" dirty="0">
                <a:solidFill>
                  <a:srgbClr val="16263B"/>
                </a:solidFill>
                <a:latin typeface="Calibri" pitchFamily="34" charset="0"/>
                <a:ea typeface="Calibri" pitchFamily="34" charset="-122"/>
                <a:cs typeface="Calibri" pitchFamily="34" charset="-120"/>
              </a:rPr>
              <a:t>de 0,59 (disponibilite_pct, %) à 106,6 (trafic_mbps, Mbps) — un rapport d'environ </a:t>
            </a:r>
            <a:r>
              <a:rPr lang="en-US" sz="1350" b="1" dirty="0">
                <a:solidFill>
                  <a:srgbClr val="E8A33D"/>
                </a:solidFill>
                <a:latin typeface="Calibri" pitchFamily="34" charset="0"/>
                <a:ea typeface="Calibri" pitchFamily="34" charset="-122"/>
                <a:cs typeface="Calibri" pitchFamily="34" charset="-120"/>
              </a:rPr>
              <a:t>180</a:t>
            </a:r>
            <a:r>
              <a:rPr lang="en-US" sz="1350" dirty="0">
                <a:solidFill>
                  <a:srgbClr val="16263B"/>
                </a:solidFill>
                <a:latin typeface="Calibri" pitchFamily="34" charset="0"/>
                <a:ea typeface="Calibri" pitchFamily="34" charset="-122"/>
                <a:cs typeface="Calibri" pitchFamily="34" charset="-120"/>
              </a:rPr>
              <a:t>. Une ACP sur covariance ferait dominer trafic_mbps par son échelle, pas son contenu informatif.</a:t>
            </a:r>
            <a:endParaRPr lang="en-US" sz="1350" dirty="0"/>
          </a:p>
        </p:txBody>
      </p:sp>
      <p:sp>
        <p:nvSpPr>
          <p:cNvPr id="5" name="Shape 3"/>
          <p:cNvSpPr/>
          <p:nvPr/>
        </p:nvSpPr>
        <p:spPr>
          <a:xfrm>
            <a:off x="502920" y="3063240"/>
            <a:ext cx="6035040" cy="1234440"/>
          </a:xfrm>
          <a:prstGeom prst="roundRect">
            <a:avLst>
              <a:gd name="adj" fmla="val 6667"/>
            </a:avLst>
          </a:prstGeom>
          <a:solidFill>
            <a:srgbClr val="EAF3F6"/>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6" name="Shape 4"/>
          <p:cNvSpPr/>
          <p:nvPr/>
        </p:nvSpPr>
        <p:spPr>
          <a:xfrm>
            <a:off x="731520" y="3291840"/>
            <a:ext cx="457200" cy="457200"/>
          </a:xfrm>
          <a:prstGeom prst="ellipse">
            <a:avLst/>
          </a:prstGeom>
          <a:solidFill>
            <a:srgbClr val="1C7293"/>
          </a:solidFill>
          <a:ln/>
        </p:spPr>
        <p:txBody>
          <a:bodyPr/>
          <a:lstStyle/>
          <a:p>
            <a:endParaRPr lang="fr-FR"/>
          </a:p>
        </p:txBody>
      </p:sp>
      <p:pic>
        <p:nvPicPr>
          <p:cNvPr id="7" name="Image 0" descr="C:\Users\AS237666\AppData\Local\Temp\claude\C--Users-AS237666-StudioProjects-cia-invest-app\ee4fdbc2-3ba5-4c88-be2e-a026838ac83d\scratchpad\icons\ruler_FFFFFF.png"/>
          <p:cNvPicPr>
            <a:picLocks noChangeAspect="1"/>
          </p:cNvPicPr>
          <p:nvPr/>
        </p:nvPicPr>
        <p:blipFill>
          <a:blip r:embed="rId3"/>
          <a:stretch>
            <a:fillRect/>
          </a:stretch>
        </p:blipFill>
        <p:spPr>
          <a:xfrm>
            <a:off x="790956" y="3351276"/>
            <a:ext cx="338328" cy="338328"/>
          </a:xfrm>
          <a:prstGeom prst="rect">
            <a:avLst/>
          </a:prstGeom>
        </p:spPr>
      </p:pic>
      <p:sp>
        <p:nvSpPr>
          <p:cNvPr id="8" name="Text 5"/>
          <p:cNvSpPr/>
          <p:nvPr/>
        </p:nvSpPr>
        <p:spPr>
          <a:xfrm>
            <a:off x="1371600" y="3200400"/>
            <a:ext cx="4983480" cy="960120"/>
          </a:xfrm>
          <a:prstGeom prst="rect">
            <a:avLst/>
          </a:prstGeom>
          <a:noFill/>
          <a:ln/>
        </p:spPr>
        <p:txBody>
          <a:bodyPr wrap="square" rtlCol="0" anchor="ctr"/>
          <a:lstStyle/>
          <a:p>
            <a:pPr marL="0" indent="0">
              <a:buNone/>
            </a:pPr>
            <a:r>
              <a:rPr lang="en-US" sz="1250" dirty="0">
                <a:solidFill>
                  <a:srgbClr val="134C63"/>
                </a:solidFill>
                <a:latin typeface="Calibri" pitchFamily="34" charset="0"/>
                <a:ea typeface="Calibri" pitchFamily="34" charset="-122"/>
                <a:cs typeface="Calibri" pitchFamily="34" charset="-120"/>
              </a:rPr>
              <a:t>ACP réalisée sur la matrice de corrélation (StandardScaler : moyenne 0, écart-type 1) — chaque indicateur reçoit le même poids initial.</a:t>
            </a:r>
            <a:endParaRPr lang="en-US" sz="1250" dirty="0"/>
          </a:p>
        </p:txBody>
      </p:sp>
      <p:sp>
        <p:nvSpPr>
          <p:cNvPr id="9" name="Text 6"/>
          <p:cNvSpPr/>
          <p:nvPr/>
        </p:nvSpPr>
        <p:spPr>
          <a:xfrm>
            <a:off x="502920" y="4526280"/>
            <a:ext cx="6035040" cy="320040"/>
          </a:xfrm>
          <a:prstGeom prst="rect">
            <a:avLst/>
          </a:prstGeom>
          <a:noFill/>
          <a:ln/>
        </p:spPr>
        <p:txBody>
          <a:bodyPr wrap="square" rtlCol="0" anchor="ctr"/>
          <a:lstStyle/>
          <a:p>
            <a:pPr marL="0" indent="0">
              <a:buNone/>
            </a:pPr>
            <a:r>
              <a:rPr lang="en-US" sz="1400" b="1" dirty="0">
                <a:solidFill>
                  <a:srgbClr val="0F2A43"/>
                </a:solidFill>
                <a:latin typeface="Cambria" pitchFamily="34" charset="0"/>
                <a:ea typeface="Cambria" pitchFamily="34" charset="-122"/>
                <a:cs typeface="Cambria" pitchFamily="34" charset="-120"/>
              </a:rPr>
              <a:t>Deux blocs de variables fortement corrélées</a:t>
            </a:r>
            <a:endParaRPr lang="en-US" sz="1400" dirty="0"/>
          </a:p>
        </p:txBody>
      </p:sp>
      <p:sp>
        <p:nvSpPr>
          <p:cNvPr id="10" name="Shape 7"/>
          <p:cNvSpPr/>
          <p:nvPr/>
        </p:nvSpPr>
        <p:spPr>
          <a:xfrm>
            <a:off x="502920" y="4946904"/>
            <a:ext cx="109728" cy="548640"/>
          </a:xfrm>
          <a:prstGeom prst="roundRect">
            <a:avLst>
              <a:gd name="adj" fmla="val 50000"/>
            </a:avLst>
          </a:prstGeom>
          <a:solidFill>
            <a:srgbClr val="1C7293"/>
          </a:solidFill>
          <a:ln/>
        </p:spPr>
        <p:txBody>
          <a:bodyPr/>
          <a:lstStyle/>
          <a:p>
            <a:endParaRPr lang="fr-FR"/>
          </a:p>
        </p:txBody>
      </p:sp>
      <p:sp>
        <p:nvSpPr>
          <p:cNvPr id="11" name="Text 8"/>
          <p:cNvSpPr/>
          <p:nvPr/>
        </p:nvSpPr>
        <p:spPr>
          <a:xfrm>
            <a:off x="749808" y="4892040"/>
            <a:ext cx="5760720" cy="292608"/>
          </a:xfrm>
          <a:prstGeom prst="rect">
            <a:avLst/>
          </a:prstGeom>
          <a:noFill/>
          <a:ln/>
        </p:spPr>
        <p:txBody>
          <a:bodyPr wrap="square"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Charge / performance</a:t>
            </a:r>
            <a:endParaRPr lang="en-US" sz="1250" dirty="0"/>
          </a:p>
        </p:txBody>
      </p:sp>
      <p:sp>
        <p:nvSpPr>
          <p:cNvPr id="12" name="Text 9"/>
          <p:cNvSpPr/>
          <p:nvPr/>
        </p:nvSpPr>
        <p:spPr>
          <a:xfrm>
            <a:off x="749808" y="5166360"/>
            <a:ext cx="5760720" cy="320040"/>
          </a:xfrm>
          <a:prstGeom prst="rect">
            <a:avLst/>
          </a:prstGeom>
          <a:noFill/>
          <a:ln/>
        </p:spPr>
        <p:txBody>
          <a:bodyPr wrap="square" rtlCol="0" anchor="ctr"/>
          <a:lstStyle/>
          <a:p>
            <a:pPr marL="0" indent="0">
              <a:buNone/>
            </a:pPr>
            <a:r>
              <a:rPr lang="en-US" sz="1100" dirty="0">
                <a:solidFill>
                  <a:srgbClr val="5A6B7D"/>
                </a:solidFill>
                <a:latin typeface="Calibri" pitchFamily="34" charset="0"/>
                <a:ea typeface="Calibri" pitchFamily="34" charset="-122"/>
                <a:cs typeface="Calibri" pitchFamily="34" charset="-120"/>
              </a:rPr>
              <a:t>cpu_pct, ram_pct, trafic_mbps, latence_ms — r ≈ 0,80 à 0,90</a:t>
            </a:r>
            <a:endParaRPr lang="en-US" sz="1100" dirty="0"/>
          </a:p>
        </p:txBody>
      </p:sp>
      <p:sp>
        <p:nvSpPr>
          <p:cNvPr id="13" name="Shape 10"/>
          <p:cNvSpPr/>
          <p:nvPr/>
        </p:nvSpPr>
        <p:spPr>
          <a:xfrm>
            <a:off x="502920" y="5660136"/>
            <a:ext cx="109728" cy="548640"/>
          </a:xfrm>
          <a:prstGeom prst="roundRect">
            <a:avLst>
              <a:gd name="adj" fmla="val 50000"/>
            </a:avLst>
          </a:prstGeom>
          <a:solidFill>
            <a:srgbClr val="E8A33D"/>
          </a:solidFill>
          <a:ln/>
        </p:spPr>
        <p:txBody>
          <a:bodyPr/>
          <a:lstStyle/>
          <a:p>
            <a:endParaRPr lang="fr-FR"/>
          </a:p>
        </p:txBody>
      </p:sp>
      <p:sp>
        <p:nvSpPr>
          <p:cNvPr id="14" name="Text 11"/>
          <p:cNvSpPr/>
          <p:nvPr/>
        </p:nvSpPr>
        <p:spPr>
          <a:xfrm>
            <a:off x="749808" y="5605272"/>
            <a:ext cx="5760720" cy="292608"/>
          </a:xfrm>
          <a:prstGeom prst="rect">
            <a:avLst/>
          </a:prstGeom>
          <a:noFill/>
          <a:ln/>
        </p:spPr>
        <p:txBody>
          <a:bodyPr wrap="square" rtlCol="0" anchor="ctr"/>
          <a:lstStyle/>
          <a:p>
            <a:pPr marL="0" indent="0">
              <a:buNone/>
            </a:pPr>
            <a:r>
              <a:rPr lang="en-US" sz="1250" b="1" dirty="0">
                <a:solidFill>
                  <a:srgbClr val="0F2A43"/>
                </a:solidFill>
                <a:latin typeface="Calibri" pitchFamily="34" charset="0"/>
                <a:ea typeface="Calibri" pitchFamily="34" charset="-122"/>
                <a:cs typeface="Calibri" pitchFamily="34" charset="-120"/>
              </a:rPr>
              <a:t>Exposition / sécurité</a:t>
            </a:r>
            <a:endParaRPr lang="en-US" sz="1250" dirty="0"/>
          </a:p>
        </p:txBody>
      </p:sp>
      <p:sp>
        <p:nvSpPr>
          <p:cNvPr id="15" name="Text 12"/>
          <p:cNvSpPr/>
          <p:nvPr/>
        </p:nvSpPr>
        <p:spPr>
          <a:xfrm>
            <a:off x="749808" y="5879592"/>
            <a:ext cx="5760720" cy="320040"/>
          </a:xfrm>
          <a:prstGeom prst="rect">
            <a:avLst/>
          </a:prstGeom>
          <a:noFill/>
          <a:ln/>
        </p:spPr>
        <p:txBody>
          <a:bodyPr wrap="square" rtlCol="0" anchor="ctr"/>
          <a:lstStyle/>
          <a:p>
            <a:pPr marL="0" indent="0">
              <a:buNone/>
            </a:pPr>
            <a:r>
              <a:rPr lang="en-US" sz="1100" dirty="0">
                <a:solidFill>
                  <a:srgbClr val="5A6B7D"/>
                </a:solidFill>
                <a:latin typeface="Calibri" pitchFamily="34" charset="0"/>
                <a:ea typeface="Calibri" pitchFamily="34" charset="-122"/>
                <a:cs typeface="Calibri" pitchFamily="34" charset="-120"/>
              </a:rPr>
              <a:t>tentatives_intrusion, jours_depuis_correctif, vulnérabilités, ports — r ≈ 0,76 à 0,81</a:t>
            </a:r>
            <a:endParaRPr lang="en-US" sz="1100" dirty="0"/>
          </a:p>
        </p:txBody>
      </p:sp>
      <p:sp>
        <p:nvSpPr>
          <p:cNvPr id="16" name="Shape 13"/>
          <p:cNvSpPr/>
          <p:nvPr/>
        </p:nvSpPr>
        <p:spPr>
          <a:xfrm>
            <a:off x="6766560" y="1737360"/>
            <a:ext cx="4937760" cy="4434840"/>
          </a:xfrm>
          <a:prstGeom prst="roundRect">
            <a:avLst>
              <a:gd name="adj" fmla="val 1856"/>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17" name="Image 1" descr="C:\Users\AS237666\AppData\Local\Temp\claude\C--Users-AS237666-StudioProjects-cia-invest-app\ee4fdbc2-3ba5-4c88-be2e-a026838ac83d\scratchpad\img\trim_cell009_0.png"/>
          <p:cNvPicPr>
            <a:picLocks noChangeAspect="1"/>
          </p:cNvPicPr>
          <p:nvPr/>
        </p:nvPicPr>
        <p:blipFill>
          <a:blip r:embed="rId4"/>
          <a:srcRect/>
          <a:stretch/>
        </p:blipFill>
        <p:spPr>
          <a:xfrm>
            <a:off x="6967728" y="1938528"/>
            <a:ext cx="4535424" cy="3758184"/>
          </a:xfrm>
          <a:prstGeom prst="rect">
            <a:avLst/>
          </a:prstGeom>
        </p:spPr>
      </p:pic>
      <p:sp>
        <p:nvSpPr>
          <p:cNvPr id="18" name="Text 14"/>
          <p:cNvSpPr/>
          <p:nvPr/>
        </p:nvSpPr>
        <p:spPr>
          <a:xfrm>
            <a:off x="6967728" y="5715000"/>
            <a:ext cx="453542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Matrice de corrélation des 11 variables actives</a:t>
            </a:r>
            <a:endParaRPr lang="en-US" sz="1050" dirty="0"/>
          </a:p>
        </p:txBody>
      </p:sp>
      <p:sp>
        <p:nvSpPr>
          <p:cNvPr id="19" name="Text 15"/>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0" name="Text 16"/>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02 · QUESTION 3</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Combien d'axes retenir ? Trois critères convergent</a:t>
            </a:r>
            <a:endParaRPr lang="en-US" sz="3000" dirty="0"/>
          </a:p>
        </p:txBody>
      </p:sp>
      <p:sp>
        <p:nvSpPr>
          <p:cNvPr id="4" name="Shape 2"/>
          <p:cNvSpPr/>
          <p:nvPr/>
        </p:nvSpPr>
        <p:spPr>
          <a:xfrm>
            <a:off x="502920" y="1737360"/>
            <a:ext cx="7406640" cy="3246120"/>
          </a:xfrm>
          <a:prstGeom prst="roundRect">
            <a:avLst>
              <a:gd name="adj" fmla="val 253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5" name="Image 0" descr="C:\Users\AS237666\AppData\Local\Temp\claude\C--Users-AS237666-StudioProjects-cia-invest-app\ee4fdbc2-3ba5-4c88-be2e-a026838ac83d\scratchpad\img\trim_cell014_1.png"/>
          <p:cNvPicPr>
            <a:picLocks noChangeAspect="1"/>
          </p:cNvPicPr>
          <p:nvPr/>
        </p:nvPicPr>
        <p:blipFill>
          <a:blip r:embed="rId3"/>
          <a:srcRect/>
          <a:stretch/>
        </p:blipFill>
        <p:spPr>
          <a:xfrm>
            <a:off x="704088" y="1938528"/>
            <a:ext cx="7004304" cy="2569464"/>
          </a:xfrm>
          <a:prstGeom prst="rect">
            <a:avLst/>
          </a:prstGeom>
        </p:spPr>
      </p:pic>
      <p:sp>
        <p:nvSpPr>
          <p:cNvPr id="6" name="Text 3"/>
          <p:cNvSpPr/>
          <p:nvPr/>
        </p:nvSpPr>
        <p:spPr>
          <a:xfrm>
            <a:off x="704088" y="4526280"/>
            <a:ext cx="700430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Éboulis des valeurs propres et variance cumulée</a:t>
            </a:r>
            <a:endParaRPr lang="en-US" sz="1050" dirty="0"/>
          </a:p>
        </p:txBody>
      </p:sp>
      <p:sp>
        <p:nvSpPr>
          <p:cNvPr id="7" name="Shape 4"/>
          <p:cNvSpPr/>
          <p:nvPr/>
        </p:nvSpPr>
        <p:spPr>
          <a:xfrm>
            <a:off x="502920" y="5166360"/>
            <a:ext cx="384048" cy="384048"/>
          </a:xfrm>
          <a:prstGeom prst="ellipse">
            <a:avLst/>
          </a:prstGeom>
          <a:solidFill>
            <a:srgbClr val="1C7293"/>
          </a:solidFill>
          <a:ln/>
        </p:spPr>
        <p:txBody>
          <a:bodyPr/>
          <a:lstStyle/>
          <a:p>
            <a:endParaRPr lang="fr-FR"/>
          </a:p>
        </p:txBody>
      </p:sp>
      <p:pic>
        <p:nvPicPr>
          <p:cNvPr id="8" name="Image 1" descr="C:\Users\AS237666\AppData\Local\Temp\claude\C--Users-AS237666-StudioProjects-cia-invest-app\ee4fdbc2-3ba5-4c88-be2e-a026838ac83d\scratchpad\icons\check_FFFFFF.png"/>
          <p:cNvPicPr>
            <a:picLocks noChangeAspect="1"/>
          </p:cNvPicPr>
          <p:nvPr/>
        </p:nvPicPr>
        <p:blipFill>
          <a:blip r:embed="rId4"/>
          <a:stretch>
            <a:fillRect/>
          </a:stretch>
        </p:blipFill>
        <p:spPr>
          <a:xfrm>
            <a:off x="552846" y="5216286"/>
            <a:ext cx="284196" cy="284196"/>
          </a:xfrm>
          <a:prstGeom prst="rect">
            <a:avLst/>
          </a:prstGeom>
        </p:spPr>
      </p:pic>
      <p:sp>
        <p:nvSpPr>
          <p:cNvPr id="9" name="Text 5"/>
          <p:cNvSpPr/>
          <p:nvPr/>
        </p:nvSpPr>
        <p:spPr>
          <a:xfrm>
            <a:off x="1005840" y="5148072"/>
            <a:ext cx="6766560" cy="420624"/>
          </a:xfrm>
          <a:prstGeom prst="rect">
            <a:avLst/>
          </a:prstGeom>
          <a:noFill/>
          <a:ln/>
        </p:spPr>
        <p:txBody>
          <a:bodyPr wrap="square" rtlCol="0" anchor="ctr"/>
          <a:lstStyle/>
          <a:p>
            <a:pPr marL="0" indent="0">
              <a:buNone/>
            </a:pPr>
            <a:r>
              <a:rPr lang="en-US" sz="1150" b="1" dirty="0">
                <a:solidFill>
                  <a:srgbClr val="0F2A43"/>
                </a:solidFill>
                <a:latin typeface="Calibri" pitchFamily="34" charset="0"/>
                <a:ea typeface="Calibri" pitchFamily="34" charset="-122"/>
                <a:cs typeface="Calibri" pitchFamily="34" charset="-120"/>
              </a:rPr>
              <a:t>Critère de Kaiser  </a:t>
            </a:r>
            <a:r>
              <a:rPr lang="en-US" sz="1150" dirty="0">
                <a:solidFill>
                  <a:srgbClr val="5A6B7D"/>
                </a:solidFill>
                <a:latin typeface="Calibri" pitchFamily="34" charset="0"/>
                <a:ea typeface="Calibri" pitchFamily="34" charset="-122"/>
                <a:cs typeface="Calibri" pitchFamily="34" charset="-120"/>
              </a:rPr>
              <a:t>3 axes ont une valeur propre &gt; 1 ; CP4 chute à 0,27.</a:t>
            </a:r>
            <a:endParaRPr lang="en-US" sz="1150" dirty="0"/>
          </a:p>
        </p:txBody>
      </p:sp>
      <p:sp>
        <p:nvSpPr>
          <p:cNvPr id="10" name="Shape 6"/>
          <p:cNvSpPr/>
          <p:nvPr/>
        </p:nvSpPr>
        <p:spPr>
          <a:xfrm>
            <a:off x="502920" y="5623560"/>
            <a:ext cx="384048" cy="384048"/>
          </a:xfrm>
          <a:prstGeom prst="ellipse">
            <a:avLst/>
          </a:prstGeom>
          <a:solidFill>
            <a:srgbClr val="1C7293"/>
          </a:solidFill>
          <a:ln/>
        </p:spPr>
        <p:txBody>
          <a:bodyPr/>
          <a:lstStyle/>
          <a:p>
            <a:endParaRPr lang="fr-FR"/>
          </a:p>
        </p:txBody>
      </p:sp>
      <p:pic>
        <p:nvPicPr>
          <p:cNvPr id="11" name="Image 2" descr="C:\Users\AS237666\AppData\Local\Temp\claude\C--Users-AS237666-StudioProjects-cia-invest-app\ee4fdbc2-3ba5-4c88-be2e-a026838ac83d\scratchpad\icons\chart_FFFFFF.png"/>
          <p:cNvPicPr>
            <a:picLocks noChangeAspect="1"/>
          </p:cNvPicPr>
          <p:nvPr/>
        </p:nvPicPr>
        <p:blipFill>
          <a:blip r:embed="rId5"/>
          <a:stretch>
            <a:fillRect/>
          </a:stretch>
        </p:blipFill>
        <p:spPr>
          <a:xfrm>
            <a:off x="552846" y="5673486"/>
            <a:ext cx="284196" cy="284196"/>
          </a:xfrm>
          <a:prstGeom prst="rect">
            <a:avLst/>
          </a:prstGeom>
        </p:spPr>
      </p:pic>
      <p:sp>
        <p:nvSpPr>
          <p:cNvPr id="12" name="Text 7"/>
          <p:cNvSpPr/>
          <p:nvPr/>
        </p:nvSpPr>
        <p:spPr>
          <a:xfrm>
            <a:off x="1005840" y="5605272"/>
            <a:ext cx="6766560" cy="420624"/>
          </a:xfrm>
          <a:prstGeom prst="rect">
            <a:avLst/>
          </a:prstGeom>
          <a:noFill/>
          <a:ln/>
        </p:spPr>
        <p:txBody>
          <a:bodyPr wrap="square" rtlCol="0" anchor="ctr"/>
          <a:lstStyle/>
          <a:p>
            <a:pPr marL="0" indent="0">
              <a:buNone/>
            </a:pPr>
            <a:r>
              <a:rPr lang="en-US" sz="1150" b="1" dirty="0">
                <a:solidFill>
                  <a:srgbClr val="0F2A43"/>
                </a:solidFill>
                <a:latin typeface="Calibri" pitchFamily="34" charset="0"/>
                <a:ea typeface="Calibri" pitchFamily="34" charset="-122"/>
                <a:cs typeface="Calibri" pitchFamily="34" charset="-120"/>
              </a:rPr>
              <a:t>Seuil de 80 %  </a:t>
            </a:r>
            <a:r>
              <a:rPr lang="en-US" sz="1150" dirty="0">
                <a:solidFill>
                  <a:srgbClr val="5A6B7D"/>
                </a:solidFill>
                <a:latin typeface="Calibri" pitchFamily="34" charset="0"/>
                <a:ea typeface="Calibri" pitchFamily="34" charset="-122"/>
                <a:cs typeface="Calibri" pitchFamily="34" charset="-120"/>
              </a:rPr>
              <a:t>Atteint dès 3 axes : 86,8 % de variance cumulée.</a:t>
            </a:r>
            <a:endParaRPr lang="en-US" sz="1150" dirty="0"/>
          </a:p>
        </p:txBody>
      </p:sp>
      <p:sp>
        <p:nvSpPr>
          <p:cNvPr id="13" name="Shape 8"/>
          <p:cNvSpPr/>
          <p:nvPr/>
        </p:nvSpPr>
        <p:spPr>
          <a:xfrm>
            <a:off x="502920" y="6080760"/>
            <a:ext cx="384048" cy="384048"/>
          </a:xfrm>
          <a:prstGeom prst="ellipse">
            <a:avLst/>
          </a:prstGeom>
          <a:solidFill>
            <a:srgbClr val="1C7293"/>
          </a:solidFill>
          <a:ln/>
        </p:spPr>
        <p:txBody>
          <a:bodyPr/>
          <a:lstStyle/>
          <a:p>
            <a:endParaRPr lang="fr-FR"/>
          </a:p>
        </p:txBody>
      </p:sp>
      <p:pic>
        <p:nvPicPr>
          <p:cNvPr id="14" name="Image 3" descr="C:\Users\AS237666\AppData\Local\Temp\claude\C--Users-AS237666-StudioProjects-cia-invest-app\ee4fdbc2-3ba5-4c88-be2e-a026838ac83d\scratchpad\icons\crosshair_FFFFFF.png"/>
          <p:cNvPicPr>
            <a:picLocks noChangeAspect="1"/>
          </p:cNvPicPr>
          <p:nvPr/>
        </p:nvPicPr>
        <p:blipFill>
          <a:blip r:embed="rId6"/>
          <a:stretch>
            <a:fillRect/>
          </a:stretch>
        </p:blipFill>
        <p:spPr>
          <a:xfrm>
            <a:off x="552846" y="6130686"/>
            <a:ext cx="284196" cy="284196"/>
          </a:xfrm>
          <a:prstGeom prst="rect">
            <a:avLst/>
          </a:prstGeom>
        </p:spPr>
      </p:pic>
      <p:sp>
        <p:nvSpPr>
          <p:cNvPr id="15" name="Text 9"/>
          <p:cNvSpPr/>
          <p:nvPr/>
        </p:nvSpPr>
        <p:spPr>
          <a:xfrm>
            <a:off x="1005840" y="6062472"/>
            <a:ext cx="6766560" cy="420624"/>
          </a:xfrm>
          <a:prstGeom prst="rect">
            <a:avLst/>
          </a:prstGeom>
          <a:noFill/>
          <a:ln/>
        </p:spPr>
        <p:txBody>
          <a:bodyPr wrap="square" rtlCol="0" anchor="ctr"/>
          <a:lstStyle/>
          <a:p>
            <a:pPr marL="0" indent="0">
              <a:buNone/>
            </a:pPr>
            <a:r>
              <a:rPr lang="en-US" sz="1150" b="1" dirty="0">
                <a:solidFill>
                  <a:srgbClr val="0F2A43"/>
                </a:solidFill>
                <a:latin typeface="Calibri" pitchFamily="34" charset="0"/>
                <a:ea typeface="Calibri" pitchFamily="34" charset="-122"/>
                <a:cs typeface="Calibri" pitchFamily="34" charset="-120"/>
              </a:rPr>
              <a:t>Coude de l'éboulis  </a:t>
            </a:r>
            <a:r>
              <a:rPr lang="en-US" sz="1150" dirty="0">
                <a:solidFill>
                  <a:srgbClr val="5A6B7D"/>
                </a:solidFill>
                <a:latin typeface="Calibri" pitchFamily="34" charset="0"/>
                <a:ea typeface="Calibri" pitchFamily="34" charset="-122"/>
                <a:cs typeface="Calibri" pitchFamily="34" charset="-120"/>
              </a:rPr>
              <a:t>Rupture nette de pente après CP3.</a:t>
            </a:r>
            <a:endParaRPr lang="en-US" sz="1150" dirty="0"/>
          </a:p>
        </p:txBody>
      </p:sp>
      <p:sp>
        <p:nvSpPr>
          <p:cNvPr id="16" name="Shape 10"/>
          <p:cNvSpPr/>
          <p:nvPr/>
        </p:nvSpPr>
        <p:spPr>
          <a:xfrm>
            <a:off x="8138160" y="1737360"/>
            <a:ext cx="3566160" cy="4434840"/>
          </a:xfrm>
          <a:prstGeom prst="roundRect">
            <a:avLst>
              <a:gd name="adj" fmla="val 2308"/>
            </a:avLst>
          </a:prstGeom>
          <a:solidFill>
            <a:srgbClr val="0F2A43"/>
          </a:solidFill>
          <a:ln w="12700">
            <a:solidFill>
              <a:srgbClr val="0F2A43"/>
            </a:solidFill>
            <a:prstDash val="solid"/>
          </a:ln>
          <a:effectLst>
            <a:outerShdw blurRad="101600" dist="38100" dir="5400000" algn="bl" rotWithShape="0">
              <a:srgbClr val="0F2A43">
                <a:alpha val="12000"/>
              </a:srgbClr>
            </a:outerShdw>
          </a:effectLst>
        </p:spPr>
        <p:txBody>
          <a:bodyPr/>
          <a:lstStyle/>
          <a:p>
            <a:endParaRPr lang="fr-FR"/>
          </a:p>
        </p:txBody>
      </p:sp>
      <p:sp>
        <p:nvSpPr>
          <p:cNvPr id="17" name="Text 11"/>
          <p:cNvSpPr/>
          <p:nvPr/>
        </p:nvSpPr>
        <p:spPr>
          <a:xfrm>
            <a:off x="8366760" y="1920240"/>
            <a:ext cx="3108960" cy="36576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3 axes retenus</a:t>
            </a:r>
            <a:endParaRPr lang="en-US" sz="1600" dirty="0"/>
          </a:p>
        </p:txBody>
      </p:sp>
      <p:sp>
        <p:nvSpPr>
          <p:cNvPr id="18" name="Text 12"/>
          <p:cNvSpPr/>
          <p:nvPr/>
        </p:nvSpPr>
        <p:spPr>
          <a:xfrm>
            <a:off x="8366760" y="2423160"/>
            <a:ext cx="914400" cy="420624"/>
          </a:xfrm>
          <a:prstGeom prst="rect">
            <a:avLst/>
          </a:prstGeom>
          <a:noFill/>
          <a:ln/>
        </p:spPr>
        <p:txBody>
          <a:bodyPr wrap="square" rtlCol="0" anchor="ctr"/>
          <a:lstStyle/>
          <a:p>
            <a:pPr marL="0" indent="0">
              <a:buNone/>
            </a:pPr>
            <a:r>
              <a:rPr lang="en-US" sz="1100" b="1" dirty="0">
                <a:solidFill>
                  <a:srgbClr val="E8A33D"/>
                </a:solidFill>
                <a:latin typeface="Calibri" pitchFamily="34" charset="0"/>
                <a:ea typeface="Calibri" pitchFamily="34" charset="-122"/>
                <a:cs typeface="Calibri" pitchFamily="34" charset="-120"/>
              </a:rPr>
              <a:t>Axe</a:t>
            </a:r>
            <a:endParaRPr lang="en-US" sz="1100" dirty="0"/>
          </a:p>
        </p:txBody>
      </p:sp>
      <p:sp>
        <p:nvSpPr>
          <p:cNvPr id="19" name="Text 13"/>
          <p:cNvSpPr/>
          <p:nvPr/>
        </p:nvSpPr>
        <p:spPr>
          <a:xfrm>
            <a:off x="9326880" y="2423160"/>
            <a:ext cx="914400" cy="420624"/>
          </a:xfrm>
          <a:prstGeom prst="rect">
            <a:avLst/>
          </a:prstGeom>
          <a:noFill/>
          <a:ln/>
        </p:spPr>
        <p:txBody>
          <a:bodyPr wrap="square" rtlCol="0" anchor="ctr"/>
          <a:lstStyle/>
          <a:p>
            <a:pPr marL="0" indent="0" algn="ctr">
              <a:buNone/>
            </a:pPr>
            <a:r>
              <a:rPr lang="en-US" sz="1100" b="1" dirty="0">
                <a:solidFill>
                  <a:srgbClr val="E8A33D"/>
                </a:solidFill>
                <a:latin typeface="Calibri" pitchFamily="34" charset="0"/>
                <a:ea typeface="Calibri" pitchFamily="34" charset="-122"/>
                <a:cs typeface="Calibri" pitchFamily="34" charset="-120"/>
              </a:rPr>
              <a:t>λ</a:t>
            </a:r>
            <a:endParaRPr lang="en-US" sz="1100" dirty="0"/>
          </a:p>
        </p:txBody>
      </p:sp>
      <p:sp>
        <p:nvSpPr>
          <p:cNvPr id="20" name="Text 14"/>
          <p:cNvSpPr/>
          <p:nvPr/>
        </p:nvSpPr>
        <p:spPr>
          <a:xfrm>
            <a:off x="10332720" y="2423160"/>
            <a:ext cx="1234440" cy="420624"/>
          </a:xfrm>
          <a:prstGeom prst="rect">
            <a:avLst/>
          </a:prstGeom>
          <a:noFill/>
          <a:ln/>
        </p:spPr>
        <p:txBody>
          <a:bodyPr wrap="square" rtlCol="0" anchor="ctr"/>
          <a:lstStyle/>
          <a:p>
            <a:pPr marL="0" indent="0" algn="ctr">
              <a:buNone/>
            </a:pPr>
            <a:r>
              <a:rPr lang="en-US" sz="1100" b="1" dirty="0">
                <a:solidFill>
                  <a:srgbClr val="E8A33D"/>
                </a:solidFill>
                <a:latin typeface="Calibri" pitchFamily="34" charset="0"/>
                <a:ea typeface="Calibri" pitchFamily="34" charset="-122"/>
                <a:cs typeface="Calibri" pitchFamily="34" charset="-120"/>
              </a:rPr>
              <a:t>Cum. %</a:t>
            </a:r>
            <a:endParaRPr lang="en-US" sz="1100" dirty="0"/>
          </a:p>
        </p:txBody>
      </p:sp>
      <p:sp>
        <p:nvSpPr>
          <p:cNvPr id="21" name="Text 15"/>
          <p:cNvSpPr/>
          <p:nvPr/>
        </p:nvSpPr>
        <p:spPr>
          <a:xfrm>
            <a:off x="8366760" y="2880360"/>
            <a:ext cx="914400" cy="420624"/>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CP1</a:t>
            </a:r>
            <a:endParaRPr lang="en-US" sz="1400" dirty="0"/>
          </a:p>
        </p:txBody>
      </p:sp>
      <p:sp>
        <p:nvSpPr>
          <p:cNvPr id="22" name="Text 16"/>
          <p:cNvSpPr/>
          <p:nvPr/>
        </p:nvSpPr>
        <p:spPr>
          <a:xfrm>
            <a:off x="9326880" y="2880360"/>
            <a:ext cx="914400" cy="420624"/>
          </a:xfrm>
          <a:prstGeom prst="rect">
            <a:avLst/>
          </a:prstGeom>
          <a:noFill/>
          <a:ln/>
        </p:spPr>
        <p:txBody>
          <a:bodyPr wrap="square" rtlCol="0" anchor="ctr"/>
          <a:lstStyle/>
          <a:p>
            <a:pPr marL="0" indent="0" algn="ctr">
              <a:buNone/>
            </a:pPr>
            <a:r>
              <a:rPr lang="en-US" sz="1400" dirty="0">
                <a:solidFill>
                  <a:srgbClr val="E8EEF3"/>
                </a:solidFill>
                <a:latin typeface="Calibri" pitchFamily="34" charset="0"/>
                <a:ea typeface="Calibri" pitchFamily="34" charset="-122"/>
                <a:cs typeface="Calibri" pitchFamily="34" charset="-120"/>
              </a:rPr>
              <a:t>4,57</a:t>
            </a:r>
            <a:endParaRPr lang="en-US" sz="1400" dirty="0"/>
          </a:p>
        </p:txBody>
      </p:sp>
      <p:sp>
        <p:nvSpPr>
          <p:cNvPr id="23" name="Text 17"/>
          <p:cNvSpPr/>
          <p:nvPr/>
        </p:nvSpPr>
        <p:spPr>
          <a:xfrm>
            <a:off x="10332720" y="2880360"/>
            <a:ext cx="1234440" cy="420624"/>
          </a:xfrm>
          <a:prstGeom prst="rect">
            <a:avLst/>
          </a:prstGeom>
          <a:noFill/>
          <a:ln/>
        </p:spPr>
        <p:txBody>
          <a:bodyPr wrap="square" rtlCol="0" anchor="ctr"/>
          <a:lstStyle/>
          <a:p>
            <a:pPr marL="0" indent="0" algn="ctr">
              <a:buNone/>
            </a:pPr>
            <a:r>
              <a:rPr lang="en-US" sz="1400" dirty="0">
                <a:solidFill>
                  <a:srgbClr val="E8EEF3"/>
                </a:solidFill>
                <a:latin typeface="Calibri" pitchFamily="34" charset="0"/>
                <a:ea typeface="Calibri" pitchFamily="34" charset="-122"/>
                <a:cs typeface="Calibri" pitchFamily="34" charset="-120"/>
              </a:rPr>
              <a:t>41,3</a:t>
            </a:r>
            <a:endParaRPr lang="en-US" sz="1400" dirty="0"/>
          </a:p>
        </p:txBody>
      </p:sp>
      <p:sp>
        <p:nvSpPr>
          <p:cNvPr id="24" name="Shape 18"/>
          <p:cNvSpPr/>
          <p:nvPr/>
        </p:nvSpPr>
        <p:spPr>
          <a:xfrm>
            <a:off x="8366760" y="3300984"/>
            <a:ext cx="3108960" cy="0"/>
          </a:xfrm>
          <a:prstGeom prst="line">
            <a:avLst/>
          </a:prstGeom>
          <a:noFill/>
          <a:ln w="12700">
            <a:solidFill>
              <a:srgbClr val="1E4562"/>
            </a:solidFill>
            <a:prstDash val="solid"/>
          </a:ln>
        </p:spPr>
        <p:txBody>
          <a:bodyPr/>
          <a:lstStyle/>
          <a:p>
            <a:endParaRPr lang="fr-FR"/>
          </a:p>
        </p:txBody>
      </p:sp>
      <p:sp>
        <p:nvSpPr>
          <p:cNvPr id="25" name="Text 19"/>
          <p:cNvSpPr/>
          <p:nvPr/>
        </p:nvSpPr>
        <p:spPr>
          <a:xfrm>
            <a:off x="8366760" y="3337560"/>
            <a:ext cx="914400" cy="420624"/>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CP2</a:t>
            </a:r>
            <a:endParaRPr lang="en-US" sz="1400" dirty="0"/>
          </a:p>
        </p:txBody>
      </p:sp>
      <p:sp>
        <p:nvSpPr>
          <p:cNvPr id="26" name="Text 20"/>
          <p:cNvSpPr/>
          <p:nvPr/>
        </p:nvSpPr>
        <p:spPr>
          <a:xfrm>
            <a:off x="9326880" y="3337560"/>
            <a:ext cx="914400" cy="420624"/>
          </a:xfrm>
          <a:prstGeom prst="rect">
            <a:avLst/>
          </a:prstGeom>
          <a:noFill/>
          <a:ln/>
        </p:spPr>
        <p:txBody>
          <a:bodyPr wrap="square" rtlCol="0" anchor="ctr"/>
          <a:lstStyle/>
          <a:p>
            <a:pPr marL="0" indent="0" algn="ctr">
              <a:buNone/>
            </a:pPr>
            <a:r>
              <a:rPr lang="en-US" sz="1400" dirty="0">
                <a:solidFill>
                  <a:srgbClr val="E8EEF3"/>
                </a:solidFill>
                <a:latin typeface="Calibri" pitchFamily="34" charset="0"/>
                <a:ea typeface="Calibri" pitchFamily="34" charset="-122"/>
                <a:cs typeface="Calibri" pitchFamily="34" charset="-120"/>
              </a:rPr>
              <a:t>2,94</a:t>
            </a:r>
            <a:endParaRPr lang="en-US" sz="1400" dirty="0"/>
          </a:p>
        </p:txBody>
      </p:sp>
      <p:sp>
        <p:nvSpPr>
          <p:cNvPr id="27" name="Text 21"/>
          <p:cNvSpPr/>
          <p:nvPr/>
        </p:nvSpPr>
        <p:spPr>
          <a:xfrm>
            <a:off x="10332720" y="3337560"/>
            <a:ext cx="1234440" cy="420624"/>
          </a:xfrm>
          <a:prstGeom prst="rect">
            <a:avLst/>
          </a:prstGeom>
          <a:noFill/>
          <a:ln/>
        </p:spPr>
        <p:txBody>
          <a:bodyPr wrap="square" rtlCol="0" anchor="ctr"/>
          <a:lstStyle/>
          <a:p>
            <a:pPr marL="0" indent="0" algn="ctr">
              <a:buNone/>
            </a:pPr>
            <a:r>
              <a:rPr lang="en-US" sz="1400" dirty="0">
                <a:solidFill>
                  <a:srgbClr val="E8EEF3"/>
                </a:solidFill>
                <a:latin typeface="Calibri" pitchFamily="34" charset="0"/>
                <a:ea typeface="Calibri" pitchFamily="34" charset="-122"/>
                <a:cs typeface="Calibri" pitchFamily="34" charset="-120"/>
              </a:rPr>
              <a:t>67,8</a:t>
            </a:r>
            <a:endParaRPr lang="en-US" sz="1400" dirty="0"/>
          </a:p>
        </p:txBody>
      </p:sp>
      <p:sp>
        <p:nvSpPr>
          <p:cNvPr id="28" name="Shape 22"/>
          <p:cNvSpPr/>
          <p:nvPr/>
        </p:nvSpPr>
        <p:spPr>
          <a:xfrm>
            <a:off x="8366760" y="3758184"/>
            <a:ext cx="3108960" cy="0"/>
          </a:xfrm>
          <a:prstGeom prst="line">
            <a:avLst/>
          </a:prstGeom>
          <a:noFill/>
          <a:ln w="12700">
            <a:solidFill>
              <a:srgbClr val="1E4562"/>
            </a:solidFill>
            <a:prstDash val="solid"/>
          </a:ln>
        </p:spPr>
        <p:txBody>
          <a:bodyPr/>
          <a:lstStyle/>
          <a:p>
            <a:endParaRPr lang="fr-FR"/>
          </a:p>
        </p:txBody>
      </p:sp>
      <p:sp>
        <p:nvSpPr>
          <p:cNvPr id="29" name="Text 23"/>
          <p:cNvSpPr/>
          <p:nvPr/>
        </p:nvSpPr>
        <p:spPr>
          <a:xfrm>
            <a:off x="8366760" y="3794760"/>
            <a:ext cx="914400" cy="420624"/>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CP3</a:t>
            </a:r>
            <a:endParaRPr lang="en-US" sz="1400" dirty="0"/>
          </a:p>
        </p:txBody>
      </p:sp>
      <p:sp>
        <p:nvSpPr>
          <p:cNvPr id="30" name="Text 24"/>
          <p:cNvSpPr/>
          <p:nvPr/>
        </p:nvSpPr>
        <p:spPr>
          <a:xfrm>
            <a:off x="9326880" y="3794760"/>
            <a:ext cx="914400" cy="420624"/>
          </a:xfrm>
          <a:prstGeom prst="rect">
            <a:avLst/>
          </a:prstGeom>
          <a:noFill/>
          <a:ln/>
        </p:spPr>
        <p:txBody>
          <a:bodyPr wrap="square" rtlCol="0" anchor="ctr"/>
          <a:lstStyle/>
          <a:p>
            <a:pPr marL="0" indent="0" algn="ctr">
              <a:buNone/>
            </a:pPr>
            <a:r>
              <a:rPr lang="en-US" sz="1400" dirty="0">
                <a:solidFill>
                  <a:srgbClr val="E8EEF3"/>
                </a:solidFill>
                <a:latin typeface="Calibri" pitchFamily="34" charset="0"/>
                <a:ea typeface="Calibri" pitchFamily="34" charset="-122"/>
                <a:cs typeface="Calibri" pitchFamily="34" charset="-120"/>
              </a:rPr>
              <a:t>2,09</a:t>
            </a:r>
            <a:endParaRPr lang="en-US" sz="1400" dirty="0"/>
          </a:p>
        </p:txBody>
      </p:sp>
      <p:sp>
        <p:nvSpPr>
          <p:cNvPr id="31" name="Text 25"/>
          <p:cNvSpPr/>
          <p:nvPr/>
        </p:nvSpPr>
        <p:spPr>
          <a:xfrm>
            <a:off x="10332720" y="3794760"/>
            <a:ext cx="1234440" cy="420624"/>
          </a:xfrm>
          <a:prstGeom prst="rect">
            <a:avLst/>
          </a:prstGeom>
          <a:noFill/>
          <a:ln/>
        </p:spPr>
        <p:txBody>
          <a:bodyPr wrap="square" rtlCol="0" anchor="ctr"/>
          <a:lstStyle/>
          <a:p>
            <a:pPr marL="0" indent="0" algn="ctr">
              <a:buNone/>
            </a:pPr>
            <a:r>
              <a:rPr lang="en-US" sz="1400" dirty="0">
                <a:solidFill>
                  <a:srgbClr val="E8EEF3"/>
                </a:solidFill>
                <a:latin typeface="Calibri" pitchFamily="34" charset="0"/>
                <a:ea typeface="Calibri" pitchFamily="34" charset="-122"/>
                <a:cs typeface="Calibri" pitchFamily="34" charset="-120"/>
              </a:rPr>
              <a:t>86,8</a:t>
            </a:r>
            <a:endParaRPr lang="en-US" sz="1400" dirty="0"/>
          </a:p>
        </p:txBody>
      </p:sp>
      <p:sp>
        <p:nvSpPr>
          <p:cNvPr id="32" name="Shape 26"/>
          <p:cNvSpPr/>
          <p:nvPr/>
        </p:nvSpPr>
        <p:spPr>
          <a:xfrm>
            <a:off x="8366760" y="4215384"/>
            <a:ext cx="3108960" cy="0"/>
          </a:xfrm>
          <a:prstGeom prst="line">
            <a:avLst/>
          </a:prstGeom>
          <a:noFill/>
          <a:ln w="12700">
            <a:solidFill>
              <a:srgbClr val="1E4562"/>
            </a:solidFill>
            <a:prstDash val="solid"/>
          </a:ln>
        </p:spPr>
        <p:txBody>
          <a:bodyPr/>
          <a:lstStyle/>
          <a:p>
            <a:endParaRPr lang="fr-FR"/>
          </a:p>
        </p:txBody>
      </p:sp>
      <p:sp>
        <p:nvSpPr>
          <p:cNvPr id="33" name="Text 27"/>
          <p:cNvSpPr/>
          <p:nvPr/>
        </p:nvSpPr>
        <p:spPr>
          <a:xfrm>
            <a:off x="8366760" y="4389120"/>
            <a:ext cx="3108960" cy="1463040"/>
          </a:xfrm>
          <a:prstGeom prst="rect">
            <a:avLst/>
          </a:prstGeom>
          <a:noFill/>
          <a:ln/>
        </p:spPr>
        <p:txBody>
          <a:bodyPr wrap="square" rtlCol="0" anchor="t"/>
          <a:lstStyle/>
          <a:p>
            <a:pPr marL="0" indent="0">
              <a:buNone/>
            </a:pPr>
            <a:r>
              <a:rPr lang="en-US" sz="1050" i="1" dirty="0">
                <a:solidFill>
                  <a:srgbClr val="B9CBDA"/>
                </a:solidFill>
                <a:latin typeface="Calibri" pitchFamily="34" charset="0"/>
                <a:ea typeface="Calibri" pitchFamily="34" charset="-122"/>
                <a:cs typeface="Calibri" pitchFamily="34" charset="-120"/>
              </a:rPr>
              <a:t>Information portée par CP4→CP11 (13,2 %) jugée secondaire : chacune de ces composantes explique moins de 2,5 % de la variance totale.</a:t>
            </a:r>
            <a:endParaRPr lang="en-US" sz="1050" dirty="0"/>
          </a:p>
        </p:txBody>
      </p:sp>
      <p:sp>
        <p:nvSpPr>
          <p:cNvPr id="34" name="Text 28"/>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35" name="Text 29"/>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02 · QUESTION 4</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Trois axes, trois lectures</a:t>
            </a:r>
            <a:endParaRPr lang="en-US" sz="3000" dirty="0"/>
          </a:p>
        </p:txBody>
      </p:sp>
      <p:sp>
        <p:nvSpPr>
          <p:cNvPr id="4" name="Text 2"/>
          <p:cNvSpPr/>
          <p:nvPr/>
        </p:nvSpPr>
        <p:spPr>
          <a:xfrm>
            <a:off x="502920" y="1691640"/>
            <a:ext cx="11155680" cy="502920"/>
          </a:xfrm>
          <a:prstGeom prst="rect">
            <a:avLst/>
          </a:prstGeom>
          <a:noFill/>
          <a:ln/>
        </p:spPr>
        <p:txBody>
          <a:bodyPr wrap="square" rtlCol="0" anchor="t"/>
          <a:lstStyle/>
          <a:p>
            <a:pPr marL="0" indent="0">
              <a:buNone/>
            </a:pPr>
            <a:r>
              <a:rPr lang="en-US" sz="1250" b="1" dirty="0">
                <a:solidFill>
                  <a:srgbClr val="0F2A43"/>
                </a:solidFill>
                <a:latin typeface="Calibri" pitchFamily="34" charset="0"/>
                <a:ea typeface="Calibri" pitchFamily="34" charset="-122"/>
                <a:cs typeface="Calibri" pitchFamily="34" charset="-120"/>
              </a:rPr>
              <a:t>Corrélation variable-axe </a:t>
            </a:r>
            <a:r>
              <a:rPr lang="en-US" sz="1250" dirty="0">
                <a:solidFill>
                  <a:srgbClr val="5A6B7D"/>
                </a:solidFill>
                <a:latin typeface="Calibri" pitchFamily="34" charset="0"/>
                <a:ea typeface="Calibri" pitchFamily="34" charset="-122"/>
                <a:cs typeface="Calibri" pitchFamily="34" charset="-120"/>
              </a:rPr>
              <a:t>(loading, entre -1 et 1) place la variable dans le cercle des corrélations ; </a:t>
            </a:r>
            <a:r>
              <a:rPr lang="en-US" sz="1250" b="1" dirty="0">
                <a:solidFill>
                  <a:srgbClr val="0F2A43"/>
                </a:solidFill>
                <a:latin typeface="Calibri" pitchFamily="34" charset="0"/>
                <a:ea typeface="Calibri" pitchFamily="34" charset="-122"/>
                <a:cs typeface="Calibri" pitchFamily="34" charset="-120"/>
              </a:rPr>
              <a:t>contribution </a:t>
            </a:r>
            <a:r>
              <a:rPr lang="en-US" sz="1250" dirty="0">
                <a:solidFill>
                  <a:srgbClr val="5A6B7D"/>
                </a:solidFill>
                <a:latin typeface="Calibri" pitchFamily="34" charset="0"/>
                <a:ea typeface="Calibri" pitchFamily="34" charset="-122"/>
                <a:cs typeface="Calibri" pitchFamily="34" charset="-120"/>
              </a:rPr>
              <a:t>mesure sa part dans l'inertie de l'axe (somme = 100 % par axe). Le signe des composantes est arbitraire.</a:t>
            </a:r>
            <a:endParaRPr lang="en-US" sz="1250" dirty="0"/>
          </a:p>
        </p:txBody>
      </p:sp>
      <p:sp>
        <p:nvSpPr>
          <p:cNvPr id="5" name="Shape 3"/>
          <p:cNvSpPr/>
          <p:nvPr/>
        </p:nvSpPr>
        <p:spPr>
          <a:xfrm>
            <a:off x="502920" y="2377440"/>
            <a:ext cx="3611880" cy="2880360"/>
          </a:xfrm>
          <a:prstGeom prst="roundRect">
            <a:avLst>
              <a:gd name="adj" fmla="val 285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6" name="Shape 4"/>
          <p:cNvSpPr/>
          <p:nvPr/>
        </p:nvSpPr>
        <p:spPr>
          <a:xfrm>
            <a:off x="502920" y="2377440"/>
            <a:ext cx="3611880" cy="566928"/>
          </a:xfrm>
          <a:prstGeom prst="roundRect">
            <a:avLst>
              <a:gd name="adj" fmla="val 14516"/>
            </a:avLst>
          </a:prstGeom>
          <a:solidFill>
            <a:srgbClr val="1C7293"/>
          </a:solidFill>
          <a:ln/>
        </p:spPr>
        <p:txBody>
          <a:bodyPr/>
          <a:lstStyle/>
          <a:p>
            <a:endParaRPr lang="fr-FR"/>
          </a:p>
        </p:txBody>
      </p:sp>
      <p:sp>
        <p:nvSpPr>
          <p:cNvPr id="7" name="Shape 5"/>
          <p:cNvSpPr/>
          <p:nvPr/>
        </p:nvSpPr>
        <p:spPr>
          <a:xfrm>
            <a:off x="502920" y="2651760"/>
            <a:ext cx="3611880" cy="292608"/>
          </a:xfrm>
          <a:prstGeom prst="rect">
            <a:avLst/>
          </a:prstGeom>
          <a:solidFill>
            <a:srgbClr val="1C7293"/>
          </a:solidFill>
          <a:ln/>
        </p:spPr>
        <p:txBody>
          <a:bodyPr/>
          <a:lstStyle/>
          <a:p>
            <a:endParaRPr lang="fr-FR"/>
          </a:p>
        </p:txBody>
      </p:sp>
      <p:sp>
        <p:nvSpPr>
          <p:cNvPr id="8" name="Text 6"/>
          <p:cNvSpPr/>
          <p:nvPr/>
        </p:nvSpPr>
        <p:spPr>
          <a:xfrm>
            <a:off x="685800" y="2377440"/>
            <a:ext cx="1463040" cy="56692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CP1</a:t>
            </a:r>
            <a:endParaRPr lang="en-US" sz="2200" dirty="0"/>
          </a:p>
        </p:txBody>
      </p:sp>
      <p:sp>
        <p:nvSpPr>
          <p:cNvPr id="9" name="Text 7"/>
          <p:cNvSpPr/>
          <p:nvPr/>
        </p:nvSpPr>
        <p:spPr>
          <a:xfrm>
            <a:off x="502920" y="2377440"/>
            <a:ext cx="3429000" cy="566928"/>
          </a:xfrm>
          <a:prstGeom prst="rect">
            <a:avLst/>
          </a:prstGeom>
          <a:noFill/>
          <a:ln/>
        </p:spPr>
        <p:txBody>
          <a:bodyPr wrap="square"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41,3 %</a:t>
            </a:r>
            <a:endParaRPr lang="en-US" sz="1500" dirty="0"/>
          </a:p>
        </p:txBody>
      </p:sp>
      <p:sp>
        <p:nvSpPr>
          <p:cNvPr id="10" name="Text 8"/>
          <p:cNvSpPr/>
          <p:nvPr/>
        </p:nvSpPr>
        <p:spPr>
          <a:xfrm>
            <a:off x="704088" y="3127248"/>
            <a:ext cx="3209544" cy="685800"/>
          </a:xfrm>
          <a:prstGeom prst="rect">
            <a:avLst/>
          </a:prstGeom>
          <a:noFill/>
          <a:ln/>
        </p:spPr>
        <p:txBody>
          <a:bodyPr wrap="square" rtlCol="0" anchor="t"/>
          <a:lstStyle/>
          <a:p>
            <a:pPr marL="0" indent="0">
              <a:buNone/>
            </a:pPr>
            <a:r>
              <a:rPr lang="en-US" sz="1400" b="1" dirty="0">
                <a:solidFill>
                  <a:srgbClr val="0F2A43"/>
                </a:solidFill>
                <a:latin typeface="Cambria" pitchFamily="34" charset="0"/>
                <a:ea typeface="Cambria" pitchFamily="34" charset="-122"/>
                <a:cs typeface="Cambria" pitchFamily="34" charset="-120"/>
              </a:rPr>
              <a:t>Risque global / résilience inversée</a:t>
            </a:r>
            <a:endParaRPr lang="en-US" sz="1400" dirty="0"/>
          </a:p>
        </p:txBody>
      </p:sp>
      <p:sp>
        <p:nvSpPr>
          <p:cNvPr id="11" name="Text 9"/>
          <p:cNvSpPr/>
          <p:nvPr/>
        </p:nvSpPr>
        <p:spPr>
          <a:xfrm>
            <a:off x="704088" y="3840480"/>
            <a:ext cx="3209544" cy="1280160"/>
          </a:xfrm>
          <a:prstGeom prst="rect">
            <a:avLst/>
          </a:prstGeom>
          <a:noFill/>
          <a:ln/>
        </p:spPr>
        <p:txBody>
          <a:bodyPr wrap="square" rtlCol="0" anchor="t"/>
          <a:lstStyle/>
          <a:p>
            <a:pPr marL="0" indent="0">
              <a:buNone/>
            </a:pPr>
            <a:r>
              <a:rPr lang="en-US" sz="1150" dirty="0">
                <a:solidFill>
                  <a:srgbClr val="5A6B7D"/>
                </a:solidFill>
                <a:latin typeface="Calibri" pitchFamily="34" charset="0"/>
                <a:ea typeface="Calibri" pitchFamily="34" charset="-122"/>
                <a:cs typeface="Calibri" pitchFamily="34" charset="-120"/>
              </a:rPr>
              <a:t>Oppose charge, exposition et incidents à disponibilite_pct et sauvegardes_reussies_pct.</a:t>
            </a:r>
            <a:endParaRPr lang="en-US" sz="1150" dirty="0"/>
          </a:p>
        </p:txBody>
      </p:sp>
      <p:sp>
        <p:nvSpPr>
          <p:cNvPr id="12" name="Shape 10"/>
          <p:cNvSpPr/>
          <p:nvPr/>
        </p:nvSpPr>
        <p:spPr>
          <a:xfrm>
            <a:off x="4270248" y="2377440"/>
            <a:ext cx="3611880" cy="2880360"/>
          </a:xfrm>
          <a:prstGeom prst="roundRect">
            <a:avLst>
              <a:gd name="adj" fmla="val 285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3" name="Shape 11"/>
          <p:cNvSpPr/>
          <p:nvPr/>
        </p:nvSpPr>
        <p:spPr>
          <a:xfrm>
            <a:off x="4270248" y="2377440"/>
            <a:ext cx="3611880" cy="566928"/>
          </a:xfrm>
          <a:prstGeom prst="roundRect">
            <a:avLst>
              <a:gd name="adj" fmla="val 14516"/>
            </a:avLst>
          </a:prstGeom>
          <a:solidFill>
            <a:srgbClr val="E8A33D"/>
          </a:solidFill>
          <a:ln/>
        </p:spPr>
        <p:txBody>
          <a:bodyPr/>
          <a:lstStyle/>
          <a:p>
            <a:endParaRPr lang="fr-FR"/>
          </a:p>
        </p:txBody>
      </p:sp>
      <p:sp>
        <p:nvSpPr>
          <p:cNvPr id="14" name="Shape 12"/>
          <p:cNvSpPr/>
          <p:nvPr/>
        </p:nvSpPr>
        <p:spPr>
          <a:xfrm>
            <a:off x="4270248" y="2651760"/>
            <a:ext cx="3611880" cy="292608"/>
          </a:xfrm>
          <a:prstGeom prst="rect">
            <a:avLst/>
          </a:prstGeom>
          <a:solidFill>
            <a:srgbClr val="E8A33D"/>
          </a:solidFill>
          <a:ln/>
        </p:spPr>
        <p:txBody>
          <a:bodyPr/>
          <a:lstStyle/>
          <a:p>
            <a:endParaRPr lang="fr-FR"/>
          </a:p>
        </p:txBody>
      </p:sp>
      <p:sp>
        <p:nvSpPr>
          <p:cNvPr id="15" name="Text 13"/>
          <p:cNvSpPr/>
          <p:nvPr/>
        </p:nvSpPr>
        <p:spPr>
          <a:xfrm>
            <a:off x="4453128" y="2377440"/>
            <a:ext cx="1463040" cy="56692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CP2</a:t>
            </a:r>
            <a:endParaRPr lang="en-US" sz="2200" dirty="0"/>
          </a:p>
        </p:txBody>
      </p:sp>
      <p:sp>
        <p:nvSpPr>
          <p:cNvPr id="16" name="Text 14"/>
          <p:cNvSpPr/>
          <p:nvPr/>
        </p:nvSpPr>
        <p:spPr>
          <a:xfrm>
            <a:off x="4270248" y="2377440"/>
            <a:ext cx="3429000" cy="566928"/>
          </a:xfrm>
          <a:prstGeom prst="rect">
            <a:avLst/>
          </a:prstGeom>
          <a:noFill/>
          <a:ln/>
        </p:spPr>
        <p:txBody>
          <a:bodyPr wrap="square"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26,6 %</a:t>
            </a:r>
            <a:endParaRPr lang="en-US" sz="1500" dirty="0"/>
          </a:p>
        </p:txBody>
      </p:sp>
      <p:sp>
        <p:nvSpPr>
          <p:cNvPr id="17" name="Text 15"/>
          <p:cNvSpPr/>
          <p:nvPr/>
        </p:nvSpPr>
        <p:spPr>
          <a:xfrm>
            <a:off x="4471416" y="3127248"/>
            <a:ext cx="3209544" cy="685800"/>
          </a:xfrm>
          <a:prstGeom prst="rect">
            <a:avLst/>
          </a:prstGeom>
          <a:noFill/>
          <a:ln/>
        </p:spPr>
        <p:txBody>
          <a:bodyPr wrap="square" rtlCol="0" anchor="t"/>
          <a:lstStyle/>
          <a:p>
            <a:pPr marL="0" indent="0">
              <a:buNone/>
            </a:pPr>
            <a:r>
              <a:rPr lang="en-US" sz="1400" b="1" dirty="0">
                <a:solidFill>
                  <a:srgbClr val="0F2A43"/>
                </a:solidFill>
                <a:latin typeface="Cambria" pitchFamily="34" charset="0"/>
                <a:ea typeface="Cambria" pitchFamily="34" charset="-122"/>
                <a:cs typeface="Cambria" pitchFamily="34" charset="-120"/>
              </a:rPr>
              <a:t>Type de stress dominant</a:t>
            </a:r>
            <a:endParaRPr lang="en-US" sz="1400" dirty="0"/>
          </a:p>
        </p:txBody>
      </p:sp>
      <p:sp>
        <p:nvSpPr>
          <p:cNvPr id="18" name="Text 16"/>
          <p:cNvSpPr/>
          <p:nvPr/>
        </p:nvSpPr>
        <p:spPr>
          <a:xfrm>
            <a:off x="4471416" y="3840480"/>
            <a:ext cx="3209544" cy="1280160"/>
          </a:xfrm>
          <a:prstGeom prst="rect">
            <a:avLst/>
          </a:prstGeom>
          <a:noFill/>
          <a:ln/>
        </p:spPr>
        <p:txBody>
          <a:bodyPr wrap="square" rtlCol="0" anchor="t"/>
          <a:lstStyle/>
          <a:p>
            <a:pPr marL="0" indent="0">
              <a:buNone/>
            </a:pPr>
            <a:r>
              <a:rPr lang="en-US" sz="1150" dirty="0">
                <a:solidFill>
                  <a:srgbClr val="5A6B7D"/>
                </a:solidFill>
                <a:latin typeface="Calibri" pitchFamily="34" charset="0"/>
                <a:ea typeface="Calibri" pitchFamily="34" charset="-122"/>
                <a:cs typeface="Calibri" pitchFamily="34" charset="-120"/>
              </a:rPr>
              <a:t>Oppose le bloc charge/performance au bloc exposition/sécurité.</a:t>
            </a:r>
            <a:endParaRPr lang="en-US" sz="1150" dirty="0"/>
          </a:p>
        </p:txBody>
      </p:sp>
      <p:sp>
        <p:nvSpPr>
          <p:cNvPr id="19" name="Shape 17"/>
          <p:cNvSpPr/>
          <p:nvPr/>
        </p:nvSpPr>
        <p:spPr>
          <a:xfrm>
            <a:off x="8037576" y="2377440"/>
            <a:ext cx="3611880" cy="2880360"/>
          </a:xfrm>
          <a:prstGeom prst="roundRect">
            <a:avLst>
              <a:gd name="adj" fmla="val 2857"/>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20" name="Shape 18"/>
          <p:cNvSpPr/>
          <p:nvPr/>
        </p:nvSpPr>
        <p:spPr>
          <a:xfrm>
            <a:off x="8037576" y="2377440"/>
            <a:ext cx="3611880" cy="566928"/>
          </a:xfrm>
          <a:prstGeom prst="roundRect">
            <a:avLst>
              <a:gd name="adj" fmla="val 14516"/>
            </a:avLst>
          </a:prstGeom>
          <a:solidFill>
            <a:srgbClr val="3FA796"/>
          </a:solidFill>
          <a:ln/>
        </p:spPr>
        <p:txBody>
          <a:bodyPr/>
          <a:lstStyle/>
          <a:p>
            <a:endParaRPr lang="fr-FR"/>
          </a:p>
        </p:txBody>
      </p:sp>
      <p:sp>
        <p:nvSpPr>
          <p:cNvPr id="21" name="Shape 19"/>
          <p:cNvSpPr/>
          <p:nvPr/>
        </p:nvSpPr>
        <p:spPr>
          <a:xfrm>
            <a:off x="8037576" y="2651760"/>
            <a:ext cx="3611880" cy="292608"/>
          </a:xfrm>
          <a:prstGeom prst="rect">
            <a:avLst/>
          </a:prstGeom>
          <a:solidFill>
            <a:srgbClr val="3FA796"/>
          </a:solidFill>
          <a:ln/>
        </p:spPr>
        <p:txBody>
          <a:bodyPr/>
          <a:lstStyle/>
          <a:p>
            <a:endParaRPr lang="fr-FR"/>
          </a:p>
        </p:txBody>
      </p:sp>
      <p:sp>
        <p:nvSpPr>
          <p:cNvPr id="22" name="Text 20"/>
          <p:cNvSpPr/>
          <p:nvPr/>
        </p:nvSpPr>
        <p:spPr>
          <a:xfrm>
            <a:off x="8220456" y="2377440"/>
            <a:ext cx="1463040" cy="566928"/>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CP3</a:t>
            </a:r>
            <a:endParaRPr lang="en-US" sz="2200" dirty="0"/>
          </a:p>
        </p:txBody>
      </p:sp>
      <p:sp>
        <p:nvSpPr>
          <p:cNvPr id="23" name="Text 21"/>
          <p:cNvSpPr/>
          <p:nvPr/>
        </p:nvSpPr>
        <p:spPr>
          <a:xfrm>
            <a:off x="8037576" y="2377440"/>
            <a:ext cx="3429000" cy="566928"/>
          </a:xfrm>
          <a:prstGeom prst="rect">
            <a:avLst/>
          </a:prstGeom>
          <a:noFill/>
          <a:ln/>
        </p:spPr>
        <p:txBody>
          <a:bodyPr wrap="square"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18,9 %</a:t>
            </a:r>
            <a:endParaRPr lang="en-US" sz="1500" dirty="0"/>
          </a:p>
        </p:txBody>
      </p:sp>
      <p:sp>
        <p:nvSpPr>
          <p:cNvPr id="24" name="Text 22"/>
          <p:cNvSpPr/>
          <p:nvPr/>
        </p:nvSpPr>
        <p:spPr>
          <a:xfrm>
            <a:off x="8238744" y="3127248"/>
            <a:ext cx="3209544" cy="685800"/>
          </a:xfrm>
          <a:prstGeom prst="rect">
            <a:avLst/>
          </a:prstGeom>
          <a:noFill/>
          <a:ln/>
        </p:spPr>
        <p:txBody>
          <a:bodyPr wrap="square" rtlCol="0" anchor="t"/>
          <a:lstStyle/>
          <a:p>
            <a:pPr marL="0" indent="0">
              <a:buNone/>
            </a:pPr>
            <a:r>
              <a:rPr lang="en-US" sz="1400" b="1" dirty="0">
                <a:solidFill>
                  <a:srgbClr val="0F2A43"/>
                </a:solidFill>
                <a:latin typeface="Cambria" pitchFamily="34" charset="0"/>
                <a:ea typeface="Cambria" pitchFamily="34" charset="-122"/>
                <a:cs typeface="Cambria" pitchFamily="34" charset="-120"/>
              </a:rPr>
              <a:t>Résilience opérationnelle</a:t>
            </a:r>
            <a:endParaRPr lang="en-US" sz="1400" dirty="0"/>
          </a:p>
        </p:txBody>
      </p:sp>
      <p:sp>
        <p:nvSpPr>
          <p:cNvPr id="25" name="Text 23"/>
          <p:cNvSpPr/>
          <p:nvPr/>
        </p:nvSpPr>
        <p:spPr>
          <a:xfrm>
            <a:off x="8238744" y="3840480"/>
            <a:ext cx="3209544" cy="1280160"/>
          </a:xfrm>
          <a:prstGeom prst="rect">
            <a:avLst/>
          </a:prstGeom>
          <a:noFill/>
          <a:ln/>
        </p:spPr>
        <p:txBody>
          <a:bodyPr wrap="square" rtlCol="0" anchor="t"/>
          <a:lstStyle/>
          <a:p>
            <a:pPr marL="0" indent="0">
              <a:buNone/>
            </a:pPr>
            <a:r>
              <a:rPr lang="en-US" sz="1150" dirty="0">
                <a:solidFill>
                  <a:srgbClr val="5A6B7D"/>
                </a:solidFill>
                <a:latin typeface="Calibri" pitchFamily="34" charset="0"/>
                <a:ea typeface="Calibri" pitchFamily="34" charset="-122"/>
                <a:cs typeface="Calibri" pitchFamily="34" charset="-120"/>
              </a:rPr>
              <a:t>Dominé par sauvegardes, temps de rétablissement et disponibilité — 82,8 % de son inertie.</a:t>
            </a:r>
            <a:endParaRPr lang="en-US" sz="1150" dirty="0"/>
          </a:p>
        </p:txBody>
      </p:sp>
      <p:sp>
        <p:nvSpPr>
          <p:cNvPr id="26" name="Text 24"/>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7" name="Text 25"/>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02 · QUESTION 5</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Cercle des corrélations et carte thermique</a:t>
            </a:r>
            <a:endParaRPr lang="en-US" sz="3000" dirty="0"/>
          </a:p>
        </p:txBody>
      </p:sp>
      <p:sp>
        <p:nvSpPr>
          <p:cNvPr id="4" name="Shape 2"/>
          <p:cNvSpPr/>
          <p:nvPr/>
        </p:nvSpPr>
        <p:spPr>
          <a:xfrm>
            <a:off x="502920" y="1737360"/>
            <a:ext cx="4114800" cy="4434840"/>
          </a:xfrm>
          <a:prstGeom prst="roundRect">
            <a:avLst>
              <a:gd name="adj" fmla="val 2000"/>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5" name="Image 0" descr="C:\Users\AS237666\AppData\Local\Temp\claude\C--Users-AS237666-StudioProjects-cia-invest-app\ee4fdbc2-3ba5-4c88-be2e-a026838ac83d\scratchpad\img\trim_cell021_2.png"/>
          <p:cNvPicPr>
            <a:picLocks noChangeAspect="1"/>
          </p:cNvPicPr>
          <p:nvPr/>
        </p:nvPicPr>
        <p:blipFill>
          <a:blip r:embed="rId3"/>
          <a:srcRect/>
          <a:stretch/>
        </p:blipFill>
        <p:spPr>
          <a:xfrm>
            <a:off x="704088" y="1938528"/>
            <a:ext cx="3712464" cy="3758184"/>
          </a:xfrm>
          <a:prstGeom prst="rect">
            <a:avLst/>
          </a:prstGeom>
        </p:spPr>
      </p:pic>
      <p:sp>
        <p:nvSpPr>
          <p:cNvPr id="6" name="Text 3"/>
          <p:cNvSpPr/>
          <p:nvPr/>
        </p:nvSpPr>
        <p:spPr>
          <a:xfrm>
            <a:off x="704088" y="5715000"/>
            <a:ext cx="371246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Cercle des corrélations — CP1 × CP2</a:t>
            </a:r>
            <a:endParaRPr lang="en-US" sz="1050" dirty="0"/>
          </a:p>
        </p:txBody>
      </p:sp>
      <p:sp>
        <p:nvSpPr>
          <p:cNvPr id="7" name="Shape 4"/>
          <p:cNvSpPr/>
          <p:nvPr/>
        </p:nvSpPr>
        <p:spPr>
          <a:xfrm>
            <a:off x="4754880" y="1737360"/>
            <a:ext cx="3657600" cy="4434840"/>
          </a:xfrm>
          <a:prstGeom prst="roundRect">
            <a:avLst>
              <a:gd name="adj" fmla="val 2250"/>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8" name="Image 1" descr="C:\Users\AS237666\AppData\Local\Temp\claude\C--Users-AS237666-StudioProjects-cia-invest-app\ee4fdbc2-3ba5-4c88-be2e-a026838ac83d\scratchpad\img\trim_cell022_3.png"/>
          <p:cNvPicPr>
            <a:picLocks noChangeAspect="1"/>
          </p:cNvPicPr>
          <p:nvPr/>
        </p:nvPicPr>
        <p:blipFill>
          <a:blip r:embed="rId4"/>
          <a:srcRect/>
          <a:stretch/>
        </p:blipFill>
        <p:spPr>
          <a:xfrm>
            <a:off x="4956048" y="1938528"/>
            <a:ext cx="3255264" cy="3758184"/>
          </a:xfrm>
          <a:prstGeom prst="rect">
            <a:avLst/>
          </a:prstGeom>
        </p:spPr>
      </p:pic>
      <p:sp>
        <p:nvSpPr>
          <p:cNvPr id="9" name="Text 5"/>
          <p:cNvSpPr/>
          <p:nvPr/>
        </p:nvSpPr>
        <p:spPr>
          <a:xfrm>
            <a:off x="4956048" y="5715000"/>
            <a:ext cx="325526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Carte thermique des corrélations — CP1 × CP3</a:t>
            </a:r>
            <a:endParaRPr lang="en-US" sz="1050" dirty="0"/>
          </a:p>
        </p:txBody>
      </p:sp>
      <p:sp>
        <p:nvSpPr>
          <p:cNvPr id="10" name="Shape 6"/>
          <p:cNvSpPr/>
          <p:nvPr/>
        </p:nvSpPr>
        <p:spPr>
          <a:xfrm>
            <a:off x="8549640" y="1737360"/>
            <a:ext cx="3154680" cy="4434840"/>
          </a:xfrm>
          <a:prstGeom prst="roundRect">
            <a:avLst>
              <a:gd name="adj" fmla="val 2609"/>
            </a:avLst>
          </a:prstGeom>
          <a:solidFill>
            <a:srgbClr val="EAF3F6"/>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1" name="Shape 7"/>
          <p:cNvSpPr/>
          <p:nvPr/>
        </p:nvSpPr>
        <p:spPr>
          <a:xfrm>
            <a:off x="8778240" y="1965960"/>
            <a:ext cx="457200" cy="457200"/>
          </a:xfrm>
          <a:prstGeom prst="ellipse">
            <a:avLst/>
          </a:prstGeom>
          <a:solidFill>
            <a:srgbClr val="1C7293"/>
          </a:solidFill>
          <a:ln/>
        </p:spPr>
        <p:txBody>
          <a:bodyPr/>
          <a:lstStyle/>
          <a:p>
            <a:endParaRPr lang="fr-FR"/>
          </a:p>
        </p:txBody>
      </p:sp>
      <p:pic>
        <p:nvPicPr>
          <p:cNvPr id="12" name="Image 2" descr="C:\Users\AS237666\AppData\Local\Temp\claude\C--Users-AS237666-StudioProjects-cia-invest-app\ee4fdbc2-3ba5-4c88-be2e-a026838ac83d\scratchpad\icons\layer_FFFFFF.png"/>
          <p:cNvPicPr>
            <a:picLocks noChangeAspect="1"/>
          </p:cNvPicPr>
          <p:nvPr/>
        </p:nvPicPr>
        <p:blipFill>
          <a:blip r:embed="rId5"/>
          <a:stretch>
            <a:fillRect/>
          </a:stretch>
        </p:blipFill>
        <p:spPr>
          <a:xfrm>
            <a:off x="8837676" y="2025396"/>
            <a:ext cx="338328" cy="338328"/>
          </a:xfrm>
          <a:prstGeom prst="rect">
            <a:avLst/>
          </a:prstGeom>
        </p:spPr>
      </p:pic>
      <p:sp>
        <p:nvSpPr>
          <p:cNvPr id="13" name="Text 8"/>
          <p:cNvSpPr/>
          <p:nvPr/>
        </p:nvSpPr>
        <p:spPr>
          <a:xfrm>
            <a:off x="8778240" y="2542032"/>
            <a:ext cx="2743200" cy="548640"/>
          </a:xfrm>
          <a:prstGeom prst="rect">
            <a:avLst/>
          </a:prstGeom>
          <a:noFill/>
          <a:ln/>
        </p:spPr>
        <p:txBody>
          <a:bodyPr wrap="square" rtlCol="0" anchor="ctr"/>
          <a:lstStyle/>
          <a:p>
            <a:pPr marL="0" indent="0">
              <a:buNone/>
            </a:pPr>
            <a:r>
              <a:rPr lang="en-US" sz="1300" b="1" dirty="0">
                <a:solidFill>
                  <a:srgbClr val="0F2A43"/>
                </a:solidFill>
                <a:latin typeface="Cambria" pitchFamily="34" charset="0"/>
                <a:ea typeface="Cambria" pitchFamily="34" charset="-122"/>
                <a:cs typeface="Cambria" pitchFamily="34" charset="-120"/>
              </a:rPr>
              <a:t>cos² : la qualité de représentation dépend du plan choisi</a:t>
            </a:r>
            <a:endParaRPr lang="en-US" sz="1300" dirty="0"/>
          </a:p>
        </p:txBody>
      </p:sp>
      <p:sp>
        <p:nvSpPr>
          <p:cNvPr id="14" name="Text 9"/>
          <p:cNvSpPr/>
          <p:nvPr/>
        </p:nvSpPr>
        <p:spPr>
          <a:xfrm>
            <a:off x="8778240" y="3154680"/>
            <a:ext cx="2743200" cy="1554480"/>
          </a:xfrm>
          <a:prstGeom prst="rect">
            <a:avLst/>
          </a:prstGeom>
          <a:noFill/>
          <a:ln/>
        </p:spPr>
        <p:txBody>
          <a:bodyPr wrap="square" rtlCol="0" anchor="t"/>
          <a:lstStyle/>
          <a:p>
            <a:pPr marL="0" indent="0">
              <a:buNone/>
            </a:pPr>
            <a:r>
              <a:rPr lang="en-US" sz="1150" b="1" dirty="0">
                <a:solidFill>
                  <a:srgbClr val="134C63"/>
                </a:solidFill>
                <a:latin typeface="Calibri" pitchFamily="34" charset="0"/>
                <a:ea typeface="Calibri" pitchFamily="34" charset="-122"/>
                <a:cs typeface="Calibri" pitchFamily="34" charset="-120"/>
              </a:rPr>
              <a:t>temps_retablissement_min </a:t>
            </a:r>
            <a:r>
              <a:rPr lang="en-US" sz="1150" dirty="0">
                <a:solidFill>
                  <a:srgbClr val="134C63"/>
                </a:solidFill>
                <a:latin typeface="Calibri" pitchFamily="34" charset="0"/>
                <a:ea typeface="Calibri" pitchFamily="34" charset="-122"/>
                <a:cs typeface="Calibri" pitchFamily="34" charset="-120"/>
              </a:rPr>
              <a:t>et </a:t>
            </a:r>
            <a:r>
              <a:rPr lang="en-US" sz="1150" b="1" dirty="0">
                <a:solidFill>
                  <a:srgbClr val="134C63"/>
                </a:solidFill>
                <a:latin typeface="Calibri" pitchFamily="34" charset="0"/>
                <a:ea typeface="Calibri" pitchFamily="34" charset="-122"/>
                <a:cs typeface="Calibri" pitchFamily="34" charset="-120"/>
              </a:rPr>
              <a:t>sauvegardes_reussies_pct </a:t>
            </a:r>
            <a:r>
              <a:rPr lang="en-US" sz="1150" dirty="0">
                <a:solidFill>
                  <a:srgbClr val="134C63"/>
                </a:solidFill>
                <a:latin typeface="Calibri" pitchFamily="34" charset="0"/>
                <a:ea typeface="Calibri" pitchFamily="34" charset="-122"/>
                <a:cs typeface="Calibri" pitchFamily="34" charset="-120"/>
              </a:rPr>
              <a:t>sont mal représentées sur CP1-CP2 (cos² 0,21 / 0,16) mais très bien sur CP1-CP3 (cos² 0,85 / 0,87).</a:t>
            </a:r>
            <a:endParaRPr lang="en-US" sz="1150" dirty="0"/>
          </a:p>
        </p:txBody>
      </p:sp>
      <p:sp>
        <p:nvSpPr>
          <p:cNvPr id="15" name="Text 10"/>
          <p:cNvSpPr/>
          <p:nvPr/>
        </p:nvSpPr>
        <p:spPr>
          <a:xfrm>
            <a:off x="8778240" y="4800600"/>
            <a:ext cx="2743200" cy="1188720"/>
          </a:xfrm>
          <a:prstGeom prst="rect">
            <a:avLst/>
          </a:prstGeom>
          <a:noFill/>
          <a:ln/>
        </p:spPr>
        <p:txBody>
          <a:bodyPr wrap="square" rtlCol="0" anchor="t"/>
          <a:lstStyle/>
          <a:p>
            <a:pPr marL="0" indent="0">
              <a:buNone/>
            </a:pPr>
            <a:r>
              <a:rPr lang="en-US" sz="1100" i="1" dirty="0">
                <a:solidFill>
                  <a:srgbClr val="5A6B7D"/>
                </a:solidFill>
                <a:latin typeface="Calibri" pitchFamily="34" charset="0"/>
                <a:ea typeface="Calibri" pitchFamily="34" charset="-122"/>
                <a:cs typeface="Calibri" pitchFamily="34" charset="-120"/>
              </a:rPr>
              <a:t>→ Le plan CP1-CP2 seul occulte la dimension résilience/sauvegardes : il faut aller la chercher sur CP3.</a:t>
            </a:r>
            <a:endParaRPr lang="en-US" sz="1100" dirty="0"/>
          </a:p>
        </p:txBody>
      </p:sp>
      <p:sp>
        <p:nvSpPr>
          <p:cNvPr id="16" name="Text 11"/>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17" name="Text 12"/>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QUESTION 6</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Projection des individus et qualité (cos²)</a:t>
            </a:r>
            <a:endParaRPr lang="en-US" sz="3000" dirty="0"/>
          </a:p>
        </p:txBody>
      </p:sp>
      <p:sp>
        <p:nvSpPr>
          <p:cNvPr id="4" name="Shape 2"/>
          <p:cNvSpPr/>
          <p:nvPr/>
        </p:nvSpPr>
        <p:spPr>
          <a:xfrm>
            <a:off x="502920" y="1737360"/>
            <a:ext cx="6309360" cy="4434840"/>
          </a:xfrm>
          <a:prstGeom prst="roundRect">
            <a:avLst>
              <a:gd name="adj" fmla="val 1856"/>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5" name="Image 0" descr="C:\Users\AS237666\AppData\Local\Temp\claude\C--Users-AS237666-StudioProjects-cia-invest-app\ee4fdbc2-3ba5-4c88-be2e-a026838ac83d\scratchpad\img\trim_cell026_4.png"/>
          <p:cNvPicPr>
            <a:picLocks noChangeAspect="1"/>
          </p:cNvPicPr>
          <p:nvPr/>
        </p:nvPicPr>
        <p:blipFill>
          <a:blip r:embed="rId3"/>
          <a:srcRect/>
          <a:stretch/>
        </p:blipFill>
        <p:spPr>
          <a:xfrm>
            <a:off x="704088" y="1938528"/>
            <a:ext cx="5907024" cy="3758184"/>
          </a:xfrm>
          <a:prstGeom prst="rect">
            <a:avLst/>
          </a:prstGeom>
        </p:spPr>
      </p:pic>
      <p:sp>
        <p:nvSpPr>
          <p:cNvPr id="6" name="Text 3"/>
          <p:cNvSpPr/>
          <p:nvPr/>
        </p:nvSpPr>
        <p:spPr>
          <a:xfrm>
            <a:off x="704088" y="5715000"/>
            <a:ext cx="590702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Projection des 160 serveurs sur CP1 × CP2, colorée par segment externe</a:t>
            </a:r>
            <a:endParaRPr lang="en-US" sz="1050" dirty="0"/>
          </a:p>
        </p:txBody>
      </p:sp>
      <p:sp>
        <p:nvSpPr>
          <p:cNvPr id="7" name="Shape 4"/>
          <p:cNvSpPr/>
          <p:nvPr/>
        </p:nvSpPr>
        <p:spPr>
          <a:xfrm>
            <a:off x="7086600" y="1737360"/>
            <a:ext cx="1444752" cy="1051560"/>
          </a:xfrm>
          <a:prstGeom prst="roundRect">
            <a:avLst>
              <a:gd name="adj" fmla="val 7826"/>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8" name="Text 5"/>
          <p:cNvSpPr/>
          <p:nvPr/>
        </p:nvSpPr>
        <p:spPr>
          <a:xfrm>
            <a:off x="7086600" y="1828800"/>
            <a:ext cx="1444752" cy="548640"/>
          </a:xfrm>
          <a:prstGeom prst="rect">
            <a:avLst/>
          </a:prstGeom>
          <a:noFill/>
          <a:ln/>
        </p:spPr>
        <p:txBody>
          <a:bodyPr wrap="square" rtlCol="0" anchor="ctr"/>
          <a:lstStyle/>
          <a:p>
            <a:pPr marL="0" indent="0" algn="ctr">
              <a:buNone/>
            </a:pPr>
            <a:r>
              <a:rPr lang="en-US" sz="2000" b="1" dirty="0">
                <a:solidFill>
                  <a:srgbClr val="E8A33D"/>
                </a:solidFill>
                <a:latin typeface="Cambria" pitchFamily="34" charset="0"/>
                <a:ea typeface="Cambria" pitchFamily="34" charset="-122"/>
                <a:cs typeface="Cambria" pitchFamily="34" charset="-120"/>
              </a:rPr>
              <a:t>0,003</a:t>
            </a:r>
            <a:endParaRPr lang="en-US" sz="2000" dirty="0"/>
          </a:p>
        </p:txBody>
      </p:sp>
      <p:sp>
        <p:nvSpPr>
          <p:cNvPr id="9" name="Text 6"/>
          <p:cNvSpPr/>
          <p:nvPr/>
        </p:nvSpPr>
        <p:spPr>
          <a:xfrm>
            <a:off x="7086600" y="2395728"/>
            <a:ext cx="1444752" cy="274320"/>
          </a:xfrm>
          <a:prstGeom prst="rect">
            <a:avLst/>
          </a:prstGeom>
          <a:noFill/>
          <a:ln/>
        </p:spPr>
        <p:txBody>
          <a:bodyPr wrap="square" rtlCol="0" anchor="ctr"/>
          <a:lstStyle/>
          <a:p>
            <a:pPr marL="0" indent="0" algn="ctr">
              <a:buNone/>
            </a:pPr>
            <a:r>
              <a:rPr lang="en-US" sz="950" dirty="0">
                <a:solidFill>
                  <a:srgbClr val="5A6B7D"/>
                </a:solidFill>
                <a:latin typeface="Calibri" pitchFamily="34" charset="0"/>
                <a:ea typeface="Calibri" pitchFamily="34" charset="-122"/>
                <a:cs typeface="Calibri" pitchFamily="34" charset="-120"/>
              </a:rPr>
              <a:t>Minimum</a:t>
            </a:r>
            <a:endParaRPr lang="en-US" sz="950" dirty="0"/>
          </a:p>
        </p:txBody>
      </p:sp>
      <p:sp>
        <p:nvSpPr>
          <p:cNvPr id="10" name="Shape 7"/>
          <p:cNvSpPr/>
          <p:nvPr/>
        </p:nvSpPr>
        <p:spPr>
          <a:xfrm>
            <a:off x="8622792" y="1737360"/>
            <a:ext cx="1444752" cy="1051560"/>
          </a:xfrm>
          <a:prstGeom prst="roundRect">
            <a:avLst>
              <a:gd name="adj" fmla="val 7826"/>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1" name="Text 8"/>
          <p:cNvSpPr/>
          <p:nvPr/>
        </p:nvSpPr>
        <p:spPr>
          <a:xfrm>
            <a:off x="8622792" y="1828800"/>
            <a:ext cx="1444752" cy="548640"/>
          </a:xfrm>
          <a:prstGeom prst="rect">
            <a:avLst/>
          </a:prstGeom>
          <a:noFill/>
          <a:ln/>
        </p:spPr>
        <p:txBody>
          <a:bodyPr wrap="square" rtlCol="0" anchor="ctr"/>
          <a:lstStyle/>
          <a:p>
            <a:pPr marL="0" indent="0" algn="ctr">
              <a:buNone/>
            </a:pPr>
            <a:r>
              <a:rPr lang="en-US" sz="2000" b="1" dirty="0">
                <a:solidFill>
                  <a:srgbClr val="1C7293"/>
                </a:solidFill>
                <a:latin typeface="Cambria" pitchFamily="34" charset="0"/>
                <a:ea typeface="Cambria" pitchFamily="34" charset="-122"/>
                <a:cs typeface="Cambria" pitchFamily="34" charset="-120"/>
              </a:rPr>
              <a:t>0,597</a:t>
            </a:r>
            <a:endParaRPr lang="en-US" sz="2000" dirty="0"/>
          </a:p>
        </p:txBody>
      </p:sp>
      <p:sp>
        <p:nvSpPr>
          <p:cNvPr id="12" name="Text 9"/>
          <p:cNvSpPr/>
          <p:nvPr/>
        </p:nvSpPr>
        <p:spPr>
          <a:xfrm>
            <a:off x="8622792" y="2395728"/>
            <a:ext cx="1444752" cy="274320"/>
          </a:xfrm>
          <a:prstGeom prst="rect">
            <a:avLst/>
          </a:prstGeom>
          <a:noFill/>
          <a:ln/>
        </p:spPr>
        <p:txBody>
          <a:bodyPr wrap="square" rtlCol="0" anchor="ctr"/>
          <a:lstStyle/>
          <a:p>
            <a:pPr marL="0" indent="0" algn="ctr">
              <a:buNone/>
            </a:pPr>
            <a:r>
              <a:rPr lang="en-US" sz="950" dirty="0">
                <a:solidFill>
                  <a:srgbClr val="5A6B7D"/>
                </a:solidFill>
                <a:latin typeface="Calibri" pitchFamily="34" charset="0"/>
                <a:ea typeface="Calibri" pitchFamily="34" charset="-122"/>
                <a:cs typeface="Calibri" pitchFamily="34" charset="-120"/>
              </a:rPr>
              <a:t>Moyenne</a:t>
            </a:r>
            <a:endParaRPr lang="en-US" sz="950" dirty="0"/>
          </a:p>
        </p:txBody>
      </p:sp>
      <p:sp>
        <p:nvSpPr>
          <p:cNvPr id="13" name="Shape 10"/>
          <p:cNvSpPr/>
          <p:nvPr/>
        </p:nvSpPr>
        <p:spPr>
          <a:xfrm>
            <a:off x="10158984" y="1737360"/>
            <a:ext cx="1444752" cy="1051560"/>
          </a:xfrm>
          <a:prstGeom prst="roundRect">
            <a:avLst>
              <a:gd name="adj" fmla="val 7826"/>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4" name="Text 11"/>
          <p:cNvSpPr/>
          <p:nvPr/>
        </p:nvSpPr>
        <p:spPr>
          <a:xfrm>
            <a:off x="10158984" y="1828800"/>
            <a:ext cx="1444752" cy="548640"/>
          </a:xfrm>
          <a:prstGeom prst="rect">
            <a:avLst/>
          </a:prstGeom>
          <a:noFill/>
          <a:ln/>
        </p:spPr>
        <p:txBody>
          <a:bodyPr wrap="square" rtlCol="0" anchor="ctr"/>
          <a:lstStyle/>
          <a:p>
            <a:pPr marL="0" indent="0" algn="ctr">
              <a:buNone/>
            </a:pPr>
            <a:r>
              <a:rPr lang="en-US" sz="2000" b="1" dirty="0">
                <a:solidFill>
                  <a:srgbClr val="3FA796"/>
                </a:solidFill>
                <a:latin typeface="Cambria" pitchFamily="34" charset="0"/>
                <a:ea typeface="Cambria" pitchFamily="34" charset="-122"/>
                <a:cs typeface="Cambria" pitchFamily="34" charset="-120"/>
              </a:rPr>
              <a:t>0,972</a:t>
            </a:r>
            <a:endParaRPr lang="en-US" sz="2000" dirty="0"/>
          </a:p>
        </p:txBody>
      </p:sp>
      <p:sp>
        <p:nvSpPr>
          <p:cNvPr id="15" name="Text 12"/>
          <p:cNvSpPr/>
          <p:nvPr/>
        </p:nvSpPr>
        <p:spPr>
          <a:xfrm>
            <a:off x="10158984" y="2395728"/>
            <a:ext cx="1444752" cy="274320"/>
          </a:xfrm>
          <a:prstGeom prst="rect">
            <a:avLst/>
          </a:prstGeom>
          <a:noFill/>
          <a:ln/>
        </p:spPr>
        <p:txBody>
          <a:bodyPr wrap="square" rtlCol="0" anchor="ctr"/>
          <a:lstStyle/>
          <a:p>
            <a:pPr marL="0" indent="0" algn="ctr">
              <a:buNone/>
            </a:pPr>
            <a:r>
              <a:rPr lang="en-US" sz="950" dirty="0">
                <a:solidFill>
                  <a:srgbClr val="5A6B7D"/>
                </a:solidFill>
                <a:latin typeface="Calibri" pitchFamily="34" charset="0"/>
                <a:ea typeface="Calibri" pitchFamily="34" charset="-122"/>
                <a:cs typeface="Calibri" pitchFamily="34" charset="-120"/>
              </a:rPr>
              <a:t>Maximum</a:t>
            </a:r>
            <a:endParaRPr lang="en-US" sz="950" dirty="0"/>
          </a:p>
        </p:txBody>
      </p:sp>
      <p:sp>
        <p:nvSpPr>
          <p:cNvPr id="16" name="Text 13"/>
          <p:cNvSpPr/>
          <p:nvPr/>
        </p:nvSpPr>
        <p:spPr>
          <a:xfrm>
            <a:off x="7086600" y="2880360"/>
            <a:ext cx="4572000" cy="274320"/>
          </a:xfrm>
          <a:prstGeom prst="rect">
            <a:avLst/>
          </a:prstGeom>
          <a:noFill/>
          <a:ln/>
        </p:spPr>
        <p:txBody>
          <a:bodyPr wrap="square" rtlCol="0" anchor="ctr"/>
          <a:lstStyle/>
          <a:p>
            <a:pPr marL="0" indent="0">
              <a:buNone/>
            </a:pPr>
            <a:r>
              <a:rPr lang="en-US" sz="1050" i="1" dirty="0">
                <a:solidFill>
                  <a:srgbClr val="5A6B7D"/>
                </a:solidFill>
                <a:latin typeface="Calibri" pitchFamily="34" charset="0"/>
                <a:ea typeface="Calibri" pitchFamily="34" charset="-122"/>
                <a:cs typeface="Calibri" pitchFamily="34" charset="-120"/>
              </a:rPr>
              <a:t>cos²(CP1, CP2) sur les 160 serveurs</a:t>
            </a:r>
            <a:endParaRPr lang="en-US" sz="1050" dirty="0"/>
          </a:p>
        </p:txBody>
      </p:sp>
      <p:sp>
        <p:nvSpPr>
          <p:cNvPr id="17" name="Text 14"/>
          <p:cNvSpPr/>
          <p:nvPr/>
        </p:nvSpPr>
        <p:spPr>
          <a:xfrm>
            <a:off x="7086600" y="3291840"/>
            <a:ext cx="4572000" cy="320040"/>
          </a:xfrm>
          <a:prstGeom prst="rect">
            <a:avLst/>
          </a:prstGeom>
          <a:noFill/>
          <a:ln/>
        </p:spPr>
        <p:txBody>
          <a:bodyPr wrap="square" rtlCol="0" anchor="ctr"/>
          <a:lstStyle/>
          <a:p>
            <a:pPr marL="0" indent="0">
              <a:buNone/>
            </a:pPr>
            <a:r>
              <a:rPr lang="en-US" sz="1300" b="1" dirty="0">
                <a:solidFill>
                  <a:srgbClr val="0F2A43"/>
                </a:solidFill>
                <a:latin typeface="Cambria" pitchFamily="34" charset="0"/>
                <a:ea typeface="Cambria" pitchFamily="34" charset="-122"/>
                <a:cs typeface="Cambria" pitchFamily="34" charset="-120"/>
              </a:rPr>
              <a:t>5 serveurs les moins bien représentés (tous « intermédiaire »)</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086600" y="3657600"/>
          <a:ext cx="4572000" cy="1755648"/>
        </p:xfrm>
        <a:graphic>
          <a:graphicData uri="http://schemas.openxmlformats.org/drawingml/2006/table">
            <a:tbl>
              <a:tblPr/>
              <a:tblGrid>
                <a:gridCol w="20116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29260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Serveur</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Distance</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cos²</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29260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SRV-116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0,963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0,003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SRV-151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2,690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0,006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29260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1,876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0,022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SRV-125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2,998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0,023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29260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SRV-027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1,727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0,041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9" name="Text 15"/>
          <p:cNvSpPr/>
          <p:nvPr/>
        </p:nvSpPr>
        <p:spPr>
          <a:xfrm>
            <a:off x="7086600" y="5760720"/>
            <a:ext cx="4572000" cy="457200"/>
          </a:xfrm>
          <a:prstGeom prst="rect">
            <a:avLst/>
          </a:prstGeom>
          <a:noFill/>
          <a:ln/>
        </p:spPr>
        <p:txBody>
          <a:bodyPr wrap="square" rtlCol="0" anchor="t"/>
          <a:lstStyle/>
          <a:p>
            <a:pPr marL="0" indent="0">
              <a:buNone/>
            </a:pPr>
            <a:r>
              <a:rPr lang="en-US" sz="1050" i="1" dirty="0">
                <a:solidFill>
                  <a:srgbClr val="5A6B7D"/>
                </a:solidFill>
                <a:latin typeface="Calibri" pitchFamily="34" charset="0"/>
                <a:ea typeface="Calibri" pitchFamily="34" charset="-122"/>
                <a:cs typeface="Calibri" pitchFamily="34" charset="-120"/>
              </a:rPr>
              <a:t>À ne pas interpréter à partir du seul plan CP1-CP2 : se référer au plan CP1-CP3.</a:t>
            </a:r>
            <a:endParaRPr lang="en-US" sz="1050" dirty="0"/>
          </a:p>
        </p:txBody>
      </p:sp>
      <p:sp>
        <p:nvSpPr>
          <p:cNvPr id="20" name="Text 16"/>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1" name="Text 17"/>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QUESTION 7</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Serveurs atypiques : deux classements, deux lectures</a:t>
            </a:r>
            <a:endParaRPr lang="en-US" sz="3000" dirty="0"/>
          </a:p>
        </p:txBody>
      </p:sp>
      <p:sp>
        <p:nvSpPr>
          <p:cNvPr id="4" name="Text 2"/>
          <p:cNvSpPr/>
          <p:nvPr/>
        </p:nvSpPr>
        <p:spPr>
          <a:xfrm>
            <a:off x="502920" y="1691640"/>
            <a:ext cx="11155680" cy="502920"/>
          </a:xfrm>
          <a:prstGeom prst="rect">
            <a:avLst/>
          </a:prstGeom>
          <a:noFill/>
          <a:ln/>
        </p:spPr>
        <p:txBody>
          <a:bodyPr wrap="square" rtlCol="0" anchor="t"/>
          <a:lstStyle/>
          <a:p>
            <a:pPr marL="0" indent="0">
              <a:buNone/>
            </a:pPr>
            <a:r>
              <a:rPr lang="en-US" sz="1300" dirty="0">
                <a:solidFill>
                  <a:srgbClr val="5A6B7D"/>
                </a:solidFill>
                <a:latin typeface="Calibri" pitchFamily="34" charset="0"/>
                <a:ea typeface="Calibri" pitchFamily="34" charset="-122"/>
                <a:cs typeface="Calibri" pitchFamily="34" charset="-120"/>
              </a:rPr>
              <a:t>On compare le classement des serveurs les plus atypiques selon la vraie distance multivariée (11 axes) et selon la distance apparente dans le seul plan CP1-CP2.</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512064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Serveur</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1C729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Segment</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1C729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Distance</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5,967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SRV-150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5,850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SRV-117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5,590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SRV-073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5,363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SRV-110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5,268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02920" y="4709160"/>
            <a:ext cx="5120640" cy="274320"/>
          </a:xfrm>
          <a:prstGeom prst="rect">
            <a:avLst/>
          </a:prstGeom>
          <a:noFill/>
          <a:ln/>
        </p:spPr>
        <p:txBody>
          <a:bodyPr wrap="square" rtlCol="0" anchor="ctr"/>
          <a:lstStyle/>
          <a:p>
            <a:pPr marL="0" indent="0" algn="ctr">
              <a:buNone/>
            </a:pPr>
            <a:r>
              <a:rPr lang="en-US" sz="1100" i="1" dirty="0">
                <a:solidFill>
                  <a:srgbClr val="5A6B7D"/>
                </a:solidFill>
                <a:latin typeface="Calibri" pitchFamily="34" charset="0"/>
                <a:ea typeface="Calibri" pitchFamily="34" charset="-122"/>
                <a:cs typeface="Calibri" pitchFamily="34" charset="-120"/>
              </a:rPr>
              <a:t>Espace complet (11 axes)</a:t>
            </a:r>
            <a:endParaRPr lang="en-US" sz="11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6492240" y="2331720"/>
          <a:ext cx="512064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Serveur</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E8A33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Segment</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E8A33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Distance</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E8A33D"/>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5,798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SRV-117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5,479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SRV-073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5,230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SRV-129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5,107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SRV-071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5,035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6492240" y="4709160"/>
            <a:ext cx="5120640" cy="274320"/>
          </a:xfrm>
          <a:prstGeom prst="rect">
            <a:avLst/>
          </a:prstGeom>
          <a:noFill/>
          <a:ln/>
        </p:spPr>
        <p:txBody>
          <a:bodyPr wrap="square" rtlCol="0" anchor="ctr"/>
          <a:lstStyle/>
          <a:p>
            <a:pPr marL="0" indent="0" algn="ctr">
              <a:buNone/>
            </a:pPr>
            <a:r>
              <a:rPr lang="en-US" sz="1100" i="1" dirty="0">
                <a:solidFill>
                  <a:srgbClr val="5A6B7D"/>
                </a:solidFill>
                <a:latin typeface="Calibri" pitchFamily="34" charset="0"/>
                <a:ea typeface="Calibri" pitchFamily="34" charset="-122"/>
                <a:cs typeface="Calibri" pitchFamily="34" charset="-120"/>
              </a:rPr>
              <a:t>Plan CP1-CP2 seul</a:t>
            </a:r>
            <a:endParaRPr lang="en-US" sz="1100" dirty="0"/>
          </a:p>
        </p:txBody>
      </p:sp>
      <p:sp>
        <p:nvSpPr>
          <p:cNvPr id="9" name="Shape 5"/>
          <p:cNvSpPr/>
          <p:nvPr/>
        </p:nvSpPr>
        <p:spPr>
          <a:xfrm>
            <a:off x="502920" y="5166360"/>
            <a:ext cx="11109960" cy="1005840"/>
          </a:xfrm>
          <a:prstGeom prst="roundRect">
            <a:avLst>
              <a:gd name="adj" fmla="val 8182"/>
            </a:avLst>
          </a:prstGeom>
          <a:solidFill>
            <a:srgbClr val="EAF3F6"/>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0" name="Shape 6"/>
          <p:cNvSpPr/>
          <p:nvPr/>
        </p:nvSpPr>
        <p:spPr>
          <a:xfrm>
            <a:off x="731520" y="5349240"/>
            <a:ext cx="457200" cy="457200"/>
          </a:xfrm>
          <a:prstGeom prst="ellipse">
            <a:avLst/>
          </a:prstGeom>
          <a:solidFill>
            <a:srgbClr val="E8A33D"/>
          </a:solidFill>
          <a:ln/>
        </p:spPr>
        <p:txBody>
          <a:bodyPr/>
          <a:lstStyle/>
          <a:p>
            <a:endParaRPr lang="fr-FR"/>
          </a:p>
        </p:txBody>
      </p:sp>
      <p:pic>
        <p:nvPicPr>
          <p:cNvPr id="5" name="Image 0" descr="C:\Users\AS237666\AppData\Local\Temp\claude\C--Users-AS237666-StudioProjects-cia-invest-app\ee4fdbc2-3ba5-4c88-be2e-a026838ac83d\scratchpad\icons\warning_FFFFFF.png"/>
          <p:cNvPicPr>
            <a:picLocks noChangeAspect="1"/>
          </p:cNvPicPr>
          <p:nvPr/>
        </p:nvPicPr>
        <p:blipFill>
          <a:blip r:embed="rId3"/>
          <a:stretch>
            <a:fillRect/>
          </a:stretch>
        </p:blipFill>
        <p:spPr>
          <a:xfrm>
            <a:off x="790956" y="5408676"/>
            <a:ext cx="338328" cy="338328"/>
          </a:xfrm>
          <a:prstGeom prst="rect">
            <a:avLst/>
          </a:prstGeom>
        </p:spPr>
      </p:pic>
      <p:sp>
        <p:nvSpPr>
          <p:cNvPr id="12" name="Text 7"/>
          <p:cNvSpPr/>
          <p:nvPr/>
        </p:nvSpPr>
        <p:spPr>
          <a:xfrm>
            <a:off x="1371600" y="5257800"/>
            <a:ext cx="9966960" cy="822960"/>
          </a:xfrm>
          <a:prstGeom prst="rect">
            <a:avLst/>
          </a:prstGeom>
          <a:noFill/>
          <a:ln/>
        </p:spPr>
        <p:txBody>
          <a:bodyPr wrap="square" rtlCol="0" anchor="ctr"/>
          <a:lstStyle/>
          <a:p>
            <a:pPr marL="0" indent="0">
              <a:buNone/>
            </a:pPr>
            <a:r>
              <a:rPr lang="en-US" sz="1200" dirty="0">
                <a:solidFill>
                  <a:srgbClr val="134C63"/>
                </a:solidFill>
                <a:latin typeface="Calibri" pitchFamily="34" charset="0"/>
                <a:ea typeface="Calibri" pitchFamily="34" charset="-122"/>
                <a:cs typeface="Calibri" pitchFamily="34" charset="-120"/>
              </a:rPr>
              <a:t>Seuls 3 serveurs sur 5 sont communs aux deux classements (SRV-073, SRV-117, SRV-145) : se limiter au plan CP1-CP2 fait manquer des individus réellement atypiques. Une distance élevée n'indique ni la direction de l'écart, ni sa cause.</a:t>
            </a:r>
            <a:endParaRPr lang="en-US" sz="1200" dirty="0"/>
          </a:p>
        </p:txBody>
      </p:sp>
      <p:sp>
        <p:nvSpPr>
          <p:cNvPr id="13" name="Text 8"/>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14" name="Text 9"/>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03 · QUESTIONS 8-9</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Reconstruction et comparaison des plans</a:t>
            </a:r>
            <a:endParaRPr lang="en-US" sz="3000" dirty="0"/>
          </a:p>
        </p:txBody>
      </p:sp>
      <p:sp>
        <p:nvSpPr>
          <p:cNvPr id="4" name="Shape 2"/>
          <p:cNvSpPr/>
          <p:nvPr/>
        </p:nvSpPr>
        <p:spPr>
          <a:xfrm>
            <a:off x="502920" y="1737360"/>
            <a:ext cx="5394960" cy="1554480"/>
          </a:xfrm>
          <a:prstGeom prst="roundRect">
            <a:avLst>
              <a:gd name="adj" fmla="val 5294"/>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5" name="Text 3"/>
          <p:cNvSpPr/>
          <p:nvPr/>
        </p:nvSpPr>
        <p:spPr>
          <a:xfrm>
            <a:off x="731520" y="1874520"/>
            <a:ext cx="4937760" cy="365760"/>
          </a:xfrm>
          <a:prstGeom prst="rect">
            <a:avLst/>
          </a:prstGeom>
          <a:noFill/>
          <a:ln/>
        </p:spPr>
        <p:txBody>
          <a:bodyPr wrap="square" rtlCol="0" anchor="ctr"/>
          <a:lstStyle/>
          <a:p>
            <a:pPr marL="0" indent="0">
              <a:buNone/>
            </a:pPr>
            <a:r>
              <a:rPr lang="en-US" sz="1350" b="1" dirty="0">
                <a:solidFill>
                  <a:srgbClr val="0F2A43"/>
                </a:solidFill>
                <a:latin typeface="Cambria" pitchFamily="34" charset="0"/>
                <a:ea typeface="Cambria" pitchFamily="34" charset="-122"/>
                <a:cs typeface="Cambria" pitchFamily="34" charset="-120"/>
              </a:rPr>
              <a:t>MSE(k) = 1 − variance expliquée cumulée(k)</a:t>
            </a:r>
            <a:endParaRPr lang="en-US" sz="1350" dirty="0"/>
          </a:p>
        </p:txBody>
      </p:sp>
      <p:sp>
        <p:nvSpPr>
          <p:cNvPr id="6" name="Text 4"/>
          <p:cNvSpPr/>
          <p:nvPr/>
        </p:nvSpPr>
        <p:spPr>
          <a:xfrm>
            <a:off x="731520" y="2240280"/>
            <a:ext cx="4937760" cy="960120"/>
          </a:xfrm>
          <a:prstGeom prst="rect">
            <a:avLst/>
          </a:prstGeom>
          <a:noFill/>
          <a:ln/>
        </p:spPr>
        <p:txBody>
          <a:bodyPr wrap="square" rtlCol="0" anchor="t"/>
          <a:lstStyle/>
          <a:p>
            <a:pPr marL="0" indent="0">
              <a:buNone/>
            </a:pPr>
            <a:r>
              <a:rPr lang="en-US" sz="1150" dirty="0">
                <a:solidFill>
                  <a:srgbClr val="5A6B7D"/>
                </a:solidFill>
                <a:latin typeface="Calibri" pitchFamily="34" charset="0"/>
                <a:ea typeface="Calibri" pitchFamily="34" charset="-122"/>
                <a:cs typeface="Calibri" pitchFamily="34" charset="-120"/>
              </a:rPr>
              <a:t>Identité vérifiée numériquement pour k = 2, 3, 4 (écart nul à l'erreur flottante près). En ne gardant que 3 axes, l'information perdue est exactement 13,2 % — l'énergie portée par CP4 à CP11.</a:t>
            </a:r>
            <a:endParaRPr lang="en-US" sz="1150" dirty="0"/>
          </a:p>
        </p:txBody>
      </p:sp>
      <p:sp>
        <p:nvSpPr>
          <p:cNvPr id="7" name="Shape 5"/>
          <p:cNvSpPr/>
          <p:nvPr/>
        </p:nvSpPr>
        <p:spPr>
          <a:xfrm>
            <a:off x="502920" y="3429000"/>
            <a:ext cx="5394960" cy="2743200"/>
          </a:xfrm>
          <a:prstGeom prst="roundRect">
            <a:avLst>
              <a:gd name="adj" fmla="val 3000"/>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8" name="Image 0" descr="C:\Users\AS237666\AppData\Local\Temp\claude\C--Users-AS237666-StudioProjects-cia-invest-app\ee4fdbc2-3ba5-4c88-be2e-a026838ac83d\scratchpad\img\trim_cell036_5.png"/>
          <p:cNvPicPr>
            <a:picLocks noChangeAspect="1"/>
          </p:cNvPicPr>
          <p:nvPr/>
        </p:nvPicPr>
        <p:blipFill>
          <a:blip r:embed="rId3"/>
          <a:srcRect/>
          <a:stretch/>
        </p:blipFill>
        <p:spPr>
          <a:xfrm>
            <a:off x="704088" y="3630168"/>
            <a:ext cx="4992624" cy="2066544"/>
          </a:xfrm>
          <a:prstGeom prst="rect">
            <a:avLst/>
          </a:prstGeom>
        </p:spPr>
      </p:pic>
      <p:sp>
        <p:nvSpPr>
          <p:cNvPr id="9" name="Text 6"/>
          <p:cNvSpPr/>
          <p:nvPr/>
        </p:nvSpPr>
        <p:spPr>
          <a:xfrm>
            <a:off x="704088" y="5715000"/>
            <a:ext cx="499262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Plans CP1×CP2 (charge/exposition) et CP1×CP3 (résilience)</a:t>
            </a:r>
            <a:endParaRPr lang="en-US" sz="1050" dirty="0"/>
          </a:p>
        </p:txBody>
      </p:sp>
      <p:sp>
        <p:nvSpPr>
          <p:cNvPr id="10" name="Shape 7"/>
          <p:cNvSpPr/>
          <p:nvPr/>
        </p:nvSpPr>
        <p:spPr>
          <a:xfrm>
            <a:off x="6080760" y="1737360"/>
            <a:ext cx="5532120" cy="4434840"/>
          </a:xfrm>
          <a:prstGeom prst="roundRect">
            <a:avLst>
              <a:gd name="adj" fmla="val 1856"/>
            </a:avLst>
          </a:prstGeom>
          <a:solidFill>
            <a:srgbClr val="0F2A43"/>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1" name="Shape 8"/>
          <p:cNvSpPr/>
          <p:nvPr/>
        </p:nvSpPr>
        <p:spPr>
          <a:xfrm>
            <a:off x="6309360" y="1965960"/>
            <a:ext cx="502920" cy="502920"/>
          </a:xfrm>
          <a:prstGeom prst="ellipse">
            <a:avLst/>
          </a:prstGeom>
          <a:solidFill>
            <a:srgbClr val="3FA796"/>
          </a:solidFill>
          <a:ln/>
        </p:spPr>
        <p:txBody>
          <a:bodyPr/>
          <a:lstStyle/>
          <a:p>
            <a:endParaRPr lang="fr-FR"/>
          </a:p>
        </p:txBody>
      </p:sp>
      <p:pic>
        <p:nvPicPr>
          <p:cNvPr id="12" name="Image 1" descr="C:\Users\AS237666\AppData\Local\Temp\claude\C--Users-AS237666-StudioProjects-cia-invest-app\ee4fdbc2-3ba5-4c88-be2e-a026838ac83d\scratchpad\icons\check_FFFFFF.png"/>
          <p:cNvPicPr>
            <a:picLocks noChangeAspect="1"/>
          </p:cNvPicPr>
          <p:nvPr/>
        </p:nvPicPr>
        <p:blipFill>
          <a:blip r:embed="rId4"/>
          <a:stretch>
            <a:fillRect/>
          </a:stretch>
        </p:blipFill>
        <p:spPr>
          <a:xfrm>
            <a:off x="6374740" y="2031340"/>
            <a:ext cx="372161" cy="372161"/>
          </a:xfrm>
          <a:prstGeom prst="rect">
            <a:avLst/>
          </a:prstGeom>
        </p:spPr>
      </p:pic>
      <p:sp>
        <p:nvSpPr>
          <p:cNvPr id="13" name="Text 9"/>
          <p:cNvSpPr/>
          <p:nvPr/>
        </p:nvSpPr>
        <p:spPr>
          <a:xfrm>
            <a:off x="6949440" y="2011680"/>
            <a:ext cx="4480560" cy="4572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Conclusion du corps du sujet</a:t>
            </a:r>
            <a:endParaRPr lang="en-US" sz="1600" dirty="0"/>
          </a:p>
        </p:txBody>
      </p:sp>
      <p:sp>
        <p:nvSpPr>
          <p:cNvPr id="14" name="Text 10"/>
          <p:cNvSpPr/>
          <p:nvPr/>
        </p:nvSpPr>
        <p:spPr>
          <a:xfrm>
            <a:off x="6309360" y="2606040"/>
            <a:ext cx="5029200" cy="1051560"/>
          </a:xfrm>
          <a:prstGeom prst="rect">
            <a:avLst/>
          </a:prstGeom>
          <a:noFill/>
          <a:ln/>
        </p:spPr>
        <p:txBody>
          <a:bodyPr wrap="square" rtlCol="0" anchor="t"/>
          <a:lstStyle/>
          <a:p>
            <a:pPr marL="0" indent="0">
              <a:buNone/>
            </a:pPr>
            <a:r>
              <a:rPr lang="en-US" sz="1200" dirty="0">
                <a:solidFill>
                  <a:srgbClr val="D7E2EC"/>
                </a:solidFill>
                <a:latin typeface="Calibri" pitchFamily="34" charset="0"/>
                <a:ea typeface="Calibri" pitchFamily="34" charset="-122"/>
                <a:cs typeface="Calibri" pitchFamily="34" charset="-120"/>
              </a:rPr>
              <a:t>Le plan CP1-CP2 sépare nettement les 3 segments externes ; sur CP1-CP3 ils se superposent presque totalement — CP3 est orthogonal à ce découpage, une dimension d'information à part entière.</a:t>
            </a:r>
            <a:endParaRPr lang="en-US" sz="1200" dirty="0"/>
          </a:p>
        </p:txBody>
      </p:sp>
      <p:sp>
        <p:nvSpPr>
          <p:cNvPr id="15" name="Text 11"/>
          <p:cNvSpPr/>
          <p:nvPr/>
        </p:nvSpPr>
        <p:spPr>
          <a:xfrm>
            <a:off x="6309360" y="3749040"/>
            <a:ext cx="5029200" cy="1143000"/>
          </a:xfrm>
          <a:prstGeom prst="rect">
            <a:avLst/>
          </a:prstGeom>
          <a:noFill/>
          <a:ln/>
        </p:spPr>
        <p:txBody>
          <a:bodyPr wrap="square" rtlCol="0" anchor="t"/>
          <a:lstStyle/>
          <a:p>
            <a:pPr marL="0" indent="0">
              <a:buNone/>
            </a:pPr>
            <a:r>
              <a:rPr lang="en-US" sz="1200" dirty="0">
                <a:solidFill>
                  <a:srgbClr val="D7E2EC"/>
                </a:solidFill>
                <a:latin typeface="Calibri" pitchFamily="34" charset="0"/>
                <a:ea typeface="Calibri" pitchFamily="34" charset="-122"/>
                <a:cs typeface="Calibri" pitchFamily="34" charset="-120"/>
              </a:rPr>
              <a:t>L'ACP révèle une structure claire et stable — 3 axes interprétables, 86,8 % de variance — qui résume les 11 indicateurs en trois lectures : risque global, type de stress dominant, résilience.</a:t>
            </a:r>
            <a:endParaRPr lang="en-US" sz="1200" dirty="0"/>
          </a:p>
        </p:txBody>
      </p:sp>
      <p:sp>
        <p:nvSpPr>
          <p:cNvPr id="16" name="Shape 12"/>
          <p:cNvSpPr/>
          <p:nvPr/>
        </p:nvSpPr>
        <p:spPr>
          <a:xfrm>
            <a:off x="6309360" y="5029200"/>
            <a:ext cx="5029200" cy="0"/>
          </a:xfrm>
          <a:prstGeom prst="line">
            <a:avLst/>
          </a:prstGeom>
          <a:noFill/>
          <a:ln w="12700">
            <a:solidFill>
              <a:srgbClr val="24425C"/>
            </a:solidFill>
            <a:prstDash val="solid"/>
          </a:ln>
        </p:spPr>
        <p:txBody>
          <a:bodyPr/>
          <a:lstStyle/>
          <a:p>
            <a:endParaRPr lang="fr-FR"/>
          </a:p>
        </p:txBody>
      </p:sp>
      <p:sp>
        <p:nvSpPr>
          <p:cNvPr id="17" name="Text 13"/>
          <p:cNvSpPr/>
          <p:nvPr/>
        </p:nvSpPr>
        <p:spPr>
          <a:xfrm>
            <a:off x="6309360" y="5166360"/>
            <a:ext cx="5029200" cy="868680"/>
          </a:xfrm>
          <a:prstGeom prst="rect">
            <a:avLst/>
          </a:prstGeom>
          <a:noFill/>
          <a:ln/>
        </p:spPr>
        <p:txBody>
          <a:bodyPr wrap="square" rtlCol="0" anchor="t"/>
          <a:lstStyle/>
          <a:p>
            <a:pPr marL="0" indent="0">
              <a:buNone/>
            </a:pPr>
            <a:r>
              <a:rPr lang="en-US" sz="1150" i="1" dirty="0">
                <a:solidFill>
                  <a:srgbClr val="E8A33D"/>
                </a:solidFill>
                <a:latin typeface="Calibri" pitchFamily="34" charset="0"/>
                <a:ea typeface="Calibri" pitchFamily="34" charset="-122"/>
                <a:cs typeface="Calibri" pitchFamily="34" charset="-120"/>
              </a:rPr>
              <a:t>Outil descriptif et exploratoire — ni diagnostic causal, ni détecteur d'incident : une position atypique ne prouve rien en soi.</a:t>
            </a:r>
            <a:endParaRPr lang="en-US" sz="1150" dirty="0"/>
          </a:p>
        </p:txBody>
      </p:sp>
      <p:sp>
        <p:nvSpPr>
          <p:cNvPr id="18" name="Text 14"/>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19" name="Text 15"/>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2A43"/>
        </a:solidFill>
        <a:effectLst/>
      </p:bgPr>
    </p:bg>
    <p:spTree>
      <p:nvGrpSpPr>
        <p:cNvPr id="1" name=""/>
        <p:cNvGrpSpPr/>
        <p:nvPr/>
      </p:nvGrpSpPr>
      <p:grpSpPr>
        <a:xfrm>
          <a:off x="0" y="0"/>
          <a:ext cx="0" cy="0"/>
          <a:chOff x="0" y="0"/>
          <a:chExt cx="0" cy="0"/>
        </a:xfrm>
      </p:grpSpPr>
      <p:sp>
        <p:nvSpPr>
          <p:cNvPr id="4" name="Text 2"/>
          <p:cNvSpPr/>
          <p:nvPr/>
        </p:nvSpPr>
        <p:spPr>
          <a:xfrm>
            <a:off x="822960" y="2468880"/>
            <a:ext cx="10515600" cy="36576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APPROFONDISSEMENT · QUESTIONS 10 À 16</a:t>
            </a:r>
            <a:endParaRPr lang="en-US" sz="1300" dirty="0"/>
          </a:p>
        </p:txBody>
      </p:sp>
      <p:sp>
        <p:nvSpPr>
          <p:cNvPr id="5" name="Text 3"/>
          <p:cNvSpPr/>
          <p:nvPr/>
        </p:nvSpPr>
        <p:spPr>
          <a:xfrm>
            <a:off x="822960" y="2880360"/>
            <a:ext cx="10515600" cy="91440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Robustesse, stabilité et généralisation</a:t>
            </a:r>
            <a:endParaRPr lang="en-US" sz="3600" dirty="0"/>
          </a:p>
        </p:txBody>
      </p:sp>
      <p:sp>
        <p:nvSpPr>
          <p:cNvPr id="6" name="Text 4"/>
          <p:cNvSpPr/>
          <p:nvPr/>
        </p:nvSpPr>
        <p:spPr>
          <a:xfrm>
            <a:off x="822960" y="3794760"/>
            <a:ext cx="8686800" cy="731520"/>
          </a:xfrm>
          <a:prstGeom prst="rect">
            <a:avLst/>
          </a:prstGeom>
          <a:noFill/>
          <a:ln/>
        </p:spPr>
        <p:txBody>
          <a:bodyPr wrap="square" rtlCol="0" anchor="t"/>
          <a:lstStyle/>
          <a:p>
            <a:pPr marL="0" indent="0">
              <a:buNone/>
            </a:pPr>
            <a:r>
              <a:rPr lang="en-US" sz="1450" i="1" dirty="0">
                <a:solidFill>
                  <a:srgbClr val="CADCE8"/>
                </a:solidFill>
                <a:latin typeface="Calibri" pitchFamily="34" charset="0"/>
                <a:ea typeface="Calibri" pitchFamily="34" charset="-122"/>
                <a:cs typeface="Calibri" pitchFamily="34" charset="-120"/>
              </a:rPr>
              <a:t>Au-delà du corps du sujet : la structure à 3 axes résiste-t-elle au retrait d'un individu, au ré-échantillonnage, et se généralise-t-elle à une nouvelle observation ?</a:t>
            </a:r>
            <a:endParaRPr lang="en-US" sz="1450" dirty="0"/>
          </a:p>
        </p:txBody>
      </p:sp>
      <p:sp>
        <p:nvSpPr>
          <p:cNvPr id="7" name="Text 5"/>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8" name="Text 6"/>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QUESTIONS 10-11</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Contributions individuelles : le cas SRV-150</a:t>
            </a:r>
            <a:endParaRPr lang="en-US" sz="3000" dirty="0"/>
          </a:p>
        </p:txBody>
      </p:sp>
      <p:sp>
        <p:nvSpPr>
          <p:cNvPr id="4" name="Text 2"/>
          <p:cNvSpPr/>
          <p:nvPr/>
        </p:nvSpPr>
        <p:spPr>
          <a:xfrm>
            <a:off x="502920" y="1691640"/>
            <a:ext cx="11155680" cy="502920"/>
          </a:xfrm>
          <a:prstGeom prst="rect">
            <a:avLst/>
          </a:prstGeom>
          <a:noFill/>
          <a:ln/>
        </p:spPr>
        <p:txBody>
          <a:bodyPr wrap="square" rtlCol="0" anchor="t"/>
          <a:lstStyle/>
          <a:p>
            <a:pPr marL="0" indent="0">
              <a:buNone/>
            </a:pPr>
            <a:r>
              <a:rPr lang="en-US" sz="1250" b="1" dirty="0">
                <a:solidFill>
                  <a:srgbClr val="0F2A43"/>
                </a:solidFill>
                <a:latin typeface="Calibri" pitchFamily="34" charset="0"/>
                <a:ea typeface="Calibri" pitchFamily="34" charset="-122"/>
                <a:cs typeface="Calibri" pitchFamily="34" charset="-120"/>
              </a:rPr>
              <a:t>Contribution </a:t>
            </a:r>
            <a:r>
              <a:rPr lang="en-US" sz="1250" dirty="0">
                <a:solidFill>
                  <a:srgbClr val="5A6B7D"/>
                </a:solidFill>
                <a:latin typeface="Calibri" pitchFamily="34" charset="0"/>
                <a:ea typeface="Calibri" pitchFamily="34" charset="-122"/>
                <a:cs typeface="Calibri" pitchFamily="34" charset="-120"/>
              </a:rPr>
              <a:t>= part de responsabilité d'un serveur dans l'inertie d'un axe (moyenne attendue 100/n = 0,625 %) — à distinguer du </a:t>
            </a:r>
            <a:r>
              <a:rPr lang="en-US" sz="1250" b="1" dirty="0">
                <a:solidFill>
                  <a:srgbClr val="0F2A43"/>
                </a:solidFill>
                <a:latin typeface="Calibri" pitchFamily="34" charset="0"/>
                <a:ea typeface="Calibri" pitchFamily="34" charset="-122"/>
                <a:cs typeface="Calibri" pitchFamily="34" charset="-120"/>
              </a:rPr>
              <a:t>cos² </a:t>
            </a:r>
            <a:r>
              <a:rPr lang="en-US" sz="1250" dirty="0">
                <a:solidFill>
                  <a:srgbClr val="5A6B7D"/>
                </a:solidFill>
                <a:latin typeface="Calibri" pitchFamily="34" charset="0"/>
                <a:ea typeface="Calibri" pitchFamily="34" charset="-122"/>
                <a:cs typeface="Calibri" pitchFamily="34" charset="-120"/>
              </a:rPr>
              <a:t>(qualité de représentation).</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512064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Serveur</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1C729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Ctr. CP1 (%)</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1C729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cos²</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1C7293"/>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4,399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0,944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SRV-071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3,476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0,915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SRV-117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3,440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0,961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SRV-129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3,050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0,972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2,687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0,832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02920" y="4709160"/>
            <a:ext cx="5120640" cy="274320"/>
          </a:xfrm>
          <a:prstGeom prst="rect">
            <a:avLst/>
          </a:prstGeom>
          <a:noFill/>
          <a:ln/>
        </p:spPr>
        <p:txBody>
          <a:bodyPr wrap="square" rtlCol="0" anchor="ctr"/>
          <a:lstStyle/>
          <a:p>
            <a:pPr marL="0" indent="0" algn="ctr">
              <a:buNone/>
            </a:pPr>
            <a:r>
              <a:rPr lang="en-US" sz="1100" i="1" dirty="0">
                <a:solidFill>
                  <a:srgbClr val="5A6B7D"/>
                </a:solidFill>
                <a:latin typeface="Calibri" pitchFamily="34" charset="0"/>
                <a:ea typeface="Calibri" pitchFamily="34" charset="-122"/>
                <a:cs typeface="Calibri" pitchFamily="34" charset="-120"/>
              </a:rPr>
              <a:t>Plus fortes contributions à CP1</a:t>
            </a:r>
            <a:endParaRPr lang="en-US" sz="11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92240" y="2331720"/>
          <a:ext cx="5120640" cy="2304288"/>
        </p:xfrm>
        <a:graphic>
          <a:graphicData uri="http://schemas.openxmlformats.org/drawingml/2006/table">
            <a:tbl>
              <a:tblPr/>
              <a:tblGrid>
                <a:gridCol w="17373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Serveur</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3FA796"/>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Ctr. CP3 (%)</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3FA796"/>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cos²</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3FA796"/>
                    </a:solidFill>
                  </a:tcPr>
                </a:tc>
                <a:extLst>
                  <a:ext uri="{0D108BD9-81ED-4DB2-BD59-A6C34878D82A}">
                    <a16:rowId xmlns:a16="http://schemas.microsoft.com/office/drawing/2014/main" val="10000"/>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SRV-150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5,569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0,974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SRV-104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3,833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0,817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3,659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0,914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SRV-096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3,634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0,923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384048">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SRV-019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2,586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0,517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p:nvPr/>
        </p:nvSpPr>
        <p:spPr>
          <a:xfrm>
            <a:off x="6492240" y="4709160"/>
            <a:ext cx="5120640" cy="274320"/>
          </a:xfrm>
          <a:prstGeom prst="rect">
            <a:avLst/>
          </a:prstGeom>
          <a:noFill/>
          <a:ln/>
        </p:spPr>
        <p:txBody>
          <a:bodyPr wrap="square" rtlCol="0" anchor="ctr"/>
          <a:lstStyle/>
          <a:p>
            <a:pPr marL="0" indent="0" algn="ctr">
              <a:buNone/>
            </a:pPr>
            <a:r>
              <a:rPr lang="en-US" sz="1100" i="1" dirty="0">
                <a:solidFill>
                  <a:srgbClr val="5A6B7D"/>
                </a:solidFill>
                <a:latin typeface="Calibri" pitchFamily="34" charset="0"/>
                <a:ea typeface="Calibri" pitchFamily="34" charset="-122"/>
                <a:cs typeface="Calibri" pitchFamily="34" charset="-120"/>
              </a:rPr>
              <a:t>Plus fortes contributions à CP3</a:t>
            </a:r>
            <a:endParaRPr lang="en-US" sz="1100" dirty="0"/>
          </a:p>
        </p:txBody>
      </p:sp>
      <p:sp>
        <p:nvSpPr>
          <p:cNvPr id="9" name="Shape 5"/>
          <p:cNvSpPr/>
          <p:nvPr/>
        </p:nvSpPr>
        <p:spPr>
          <a:xfrm>
            <a:off x="502920" y="5166360"/>
            <a:ext cx="11109960" cy="1051560"/>
          </a:xfrm>
          <a:prstGeom prst="roundRect">
            <a:avLst>
              <a:gd name="adj" fmla="val 7826"/>
            </a:avLst>
          </a:prstGeom>
          <a:solidFill>
            <a:srgbClr val="EAF3F6"/>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0" name="Shape 6"/>
          <p:cNvSpPr/>
          <p:nvPr/>
        </p:nvSpPr>
        <p:spPr>
          <a:xfrm>
            <a:off x="731520" y="5367528"/>
            <a:ext cx="457200" cy="457200"/>
          </a:xfrm>
          <a:prstGeom prst="ellipse">
            <a:avLst/>
          </a:prstGeom>
          <a:solidFill>
            <a:srgbClr val="3FA796"/>
          </a:solidFill>
          <a:ln/>
        </p:spPr>
        <p:txBody>
          <a:bodyPr/>
          <a:lstStyle/>
          <a:p>
            <a:endParaRPr lang="fr-FR"/>
          </a:p>
        </p:txBody>
      </p:sp>
      <p:pic>
        <p:nvPicPr>
          <p:cNvPr id="11" name="Image 0" descr="C:\Users\AS237666\AppData\Local\Temp\claude\C--Users-AS237666-StudioProjects-cia-invest-app\ee4fdbc2-3ba5-4c88-be2e-a026838ac83d\scratchpad\icons\crosshair_FFFFFF.png"/>
          <p:cNvPicPr>
            <a:picLocks noChangeAspect="1"/>
          </p:cNvPicPr>
          <p:nvPr/>
        </p:nvPicPr>
        <p:blipFill>
          <a:blip r:embed="rId3"/>
          <a:stretch>
            <a:fillRect/>
          </a:stretch>
        </p:blipFill>
        <p:spPr>
          <a:xfrm>
            <a:off x="790956" y="5426964"/>
            <a:ext cx="338328" cy="338328"/>
          </a:xfrm>
          <a:prstGeom prst="rect">
            <a:avLst/>
          </a:prstGeom>
        </p:spPr>
      </p:pic>
      <p:sp>
        <p:nvSpPr>
          <p:cNvPr id="12" name="Text 7"/>
          <p:cNvSpPr/>
          <p:nvPr/>
        </p:nvSpPr>
        <p:spPr>
          <a:xfrm>
            <a:off x="1371600" y="5257800"/>
            <a:ext cx="9966960" cy="868680"/>
          </a:xfrm>
          <a:prstGeom prst="rect">
            <a:avLst/>
          </a:prstGeom>
          <a:noFill/>
          <a:ln/>
        </p:spPr>
        <p:txBody>
          <a:bodyPr wrap="square" rtlCol="0" anchor="ctr"/>
          <a:lstStyle/>
          <a:p>
            <a:pPr marL="0" indent="0">
              <a:buNone/>
            </a:pPr>
            <a:r>
              <a:rPr lang="en-US" sz="1150" dirty="0">
                <a:solidFill>
                  <a:srgbClr val="134C63"/>
                </a:solidFill>
                <a:latin typeface="Calibri" pitchFamily="34" charset="0"/>
                <a:ea typeface="Calibri" pitchFamily="34" charset="-122"/>
                <a:cs typeface="Calibri" pitchFamily="34" charset="-120"/>
              </a:rPr>
              <a:t>SRV-150 façonne CP3 (5,57 %, la plus forte contribution de tous les serveurs) mais reste modeste sur CP1 (2,04 %). Il a aussi la plus grande erreur de reconstruction à k=2 axes, malgré une distance totale seulement 2ᵉ — l'écart vient spécifiquement de sa composante CP3.</a:t>
            </a:r>
            <a:endParaRPr lang="en-US" sz="1150" dirty="0"/>
          </a:p>
        </p:txBody>
      </p:sp>
      <p:sp>
        <p:nvSpPr>
          <p:cNvPr id="13" name="Text 8"/>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5" name="Text 9"/>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QUESTIONS 12-13</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La structure à 3 axes est-elle robuste ?</a:t>
            </a:r>
            <a:endParaRPr lang="en-US" sz="3000" dirty="0"/>
          </a:p>
        </p:txBody>
      </p:sp>
      <p:sp>
        <p:nvSpPr>
          <p:cNvPr id="4" name="Shape 2"/>
          <p:cNvSpPr/>
          <p:nvPr/>
        </p:nvSpPr>
        <p:spPr>
          <a:xfrm>
            <a:off x="502920" y="1783080"/>
            <a:ext cx="5394960" cy="4389120"/>
          </a:xfrm>
          <a:prstGeom prst="roundRect">
            <a:avLst>
              <a:gd name="adj" fmla="val 187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5" name="Shape 3"/>
          <p:cNvSpPr/>
          <p:nvPr/>
        </p:nvSpPr>
        <p:spPr>
          <a:xfrm>
            <a:off x="777240" y="2011680"/>
            <a:ext cx="502920" cy="502920"/>
          </a:xfrm>
          <a:prstGeom prst="ellipse">
            <a:avLst/>
          </a:prstGeom>
          <a:solidFill>
            <a:srgbClr val="1C7293"/>
          </a:solidFill>
          <a:ln/>
        </p:spPr>
        <p:txBody>
          <a:bodyPr/>
          <a:lstStyle/>
          <a:p>
            <a:endParaRPr lang="fr-FR"/>
          </a:p>
        </p:txBody>
      </p:sp>
      <p:pic>
        <p:nvPicPr>
          <p:cNvPr id="6" name="Image 0" descr="C:\Users\AS237666\AppData\Local\Temp\claude\C--Users-AS237666-StudioProjects-cia-invest-app\ee4fdbc2-3ba5-4c88-be2e-a026838ac83d\scratchpad\icons\shield_FFFFFF.png"/>
          <p:cNvPicPr>
            <a:picLocks noChangeAspect="1"/>
          </p:cNvPicPr>
          <p:nvPr/>
        </p:nvPicPr>
        <p:blipFill>
          <a:blip r:embed="rId3"/>
          <a:stretch>
            <a:fillRect/>
          </a:stretch>
        </p:blipFill>
        <p:spPr>
          <a:xfrm>
            <a:off x="842620" y="2077060"/>
            <a:ext cx="372161" cy="372161"/>
          </a:xfrm>
          <a:prstGeom prst="rect">
            <a:avLst/>
          </a:prstGeom>
        </p:spPr>
      </p:pic>
      <p:sp>
        <p:nvSpPr>
          <p:cNvPr id="7" name="Text 4"/>
          <p:cNvSpPr/>
          <p:nvPr/>
        </p:nvSpPr>
        <p:spPr>
          <a:xfrm>
            <a:off x="1417320" y="2057400"/>
            <a:ext cx="4297680" cy="457200"/>
          </a:xfrm>
          <a:prstGeom prst="rect">
            <a:avLst/>
          </a:prstGeom>
          <a:noFill/>
          <a:ln/>
        </p:spPr>
        <p:txBody>
          <a:bodyPr wrap="square" rtlCol="0" anchor="ctr"/>
          <a:lstStyle/>
          <a:p>
            <a:pPr marL="0" indent="0">
              <a:buNone/>
            </a:pPr>
            <a:r>
              <a:rPr lang="en-US" sz="1500" b="1" dirty="0">
                <a:solidFill>
                  <a:srgbClr val="0F2A43"/>
                </a:solidFill>
                <a:latin typeface="Cambria" pitchFamily="34" charset="0"/>
                <a:ea typeface="Cambria" pitchFamily="34" charset="-122"/>
                <a:cs typeface="Cambria" pitchFamily="34" charset="-120"/>
              </a:rPr>
              <a:t>Retrait de l'individu extrême</a:t>
            </a:r>
            <a:endParaRPr lang="en-US" sz="1500" dirty="0"/>
          </a:p>
        </p:txBody>
      </p:sp>
      <p:sp>
        <p:nvSpPr>
          <p:cNvPr id="8" name="Text 5"/>
          <p:cNvSpPr/>
          <p:nvPr/>
        </p:nvSpPr>
        <p:spPr>
          <a:xfrm>
            <a:off x="777240" y="2697480"/>
            <a:ext cx="4846320" cy="1005840"/>
          </a:xfrm>
          <a:prstGeom prst="rect">
            <a:avLst/>
          </a:prstGeom>
          <a:noFill/>
          <a:ln/>
        </p:spPr>
        <p:txBody>
          <a:bodyPr wrap="square" rtlCol="0" anchor="t"/>
          <a:lstStyle/>
          <a:p>
            <a:pPr marL="0" indent="0">
              <a:buNone/>
            </a:pPr>
            <a:r>
              <a:rPr lang="en-US" sz="1150" dirty="0">
                <a:solidFill>
                  <a:srgbClr val="5A6B7D"/>
                </a:solidFill>
                <a:latin typeface="Calibri" pitchFamily="34" charset="0"/>
                <a:ea typeface="Calibri" pitchFamily="34" charset="-122"/>
                <a:cs typeface="Calibri" pitchFamily="34" charset="-120"/>
              </a:rPr>
              <a:t>SRV-145, le serveur le plus éloigné (distance = 5,97), est retiré temporairement (en mémoire) ; l'ACP est refaite sur 159 serveurs et comparée via la distance de projecteur du sous-espace CP1-CP3.</a:t>
            </a:r>
            <a:endParaRPr lang="en-US" sz="1150" dirty="0"/>
          </a:p>
        </p:txBody>
      </p:sp>
      <p:sp>
        <p:nvSpPr>
          <p:cNvPr id="9" name="Shape 6"/>
          <p:cNvSpPr/>
          <p:nvPr/>
        </p:nvSpPr>
        <p:spPr>
          <a:xfrm>
            <a:off x="777240" y="3794760"/>
            <a:ext cx="4846320" cy="960120"/>
          </a:xfrm>
          <a:prstGeom prst="roundRect">
            <a:avLst>
              <a:gd name="adj" fmla="val 7619"/>
            </a:avLst>
          </a:prstGeom>
          <a:solidFill>
            <a:srgbClr val="F4F6F9"/>
          </a:solidFill>
          <a:ln/>
        </p:spPr>
        <p:txBody>
          <a:bodyPr/>
          <a:lstStyle/>
          <a:p>
            <a:endParaRPr lang="fr-FR"/>
          </a:p>
        </p:txBody>
      </p:sp>
      <p:sp>
        <p:nvSpPr>
          <p:cNvPr id="10" name="Text 7"/>
          <p:cNvSpPr/>
          <p:nvPr/>
        </p:nvSpPr>
        <p:spPr>
          <a:xfrm>
            <a:off x="960120" y="3858768"/>
            <a:ext cx="2103120" cy="548640"/>
          </a:xfrm>
          <a:prstGeom prst="rect">
            <a:avLst/>
          </a:prstGeom>
          <a:noFill/>
          <a:ln/>
        </p:spPr>
        <p:txBody>
          <a:bodyPr wrap="square" rtlCol="0" anchor="ctr"/>
          <a:lstStyle/>
          <a:p>
            <a:pPr marL="0" indent="0">
              <a:buNone/>
            </a:pPr>
            <a:r>
              <a:rPr lang="en-US" sz="2600" b="1" dirty="0">
                <a:solidFill>
                  <a:srgbClr val="1C7293"/>
                </a:solidFill>
                <a:latin typeface="Cambria" pitchFamily="34" charset="0"/>
                <a:ea typeface="Cambria" pitchFamily="34" charset="-122"/>
                <a:cs typeface="Cambria" pitchFamily="34" charset="-120"/>
              </a:rPr>
              <a:t>0,00887</a:t>
            </a:r>
            <a:endParaRPr lang="en-US" sz="2600" dirty="0"/>
          </a:p>
        </p:txBody>
      </p:sp>
      <p:sp>
        <p:nvSpPr>
          <p:cNvPr id="11" name="Text 8"/>
          <p:cNvSpPr/>
          <p:nvPr/>
        </p:nvSpPr>
        <p:spPr>
          <a:xfrm>
            <a:off x="3063240" y="3858768"/>
            <a:ext cx="2468880" cy="822960"/>
          </a:xfrm>
          <a:prstGeom prst="rect">
            <a:avLst/>
          </a:prstGeom>
          <a:noFill/>
          <a:ln/>
        </p:spPr>
        <p:txBody>
          <a:bodyPr wrap="square" rtlCol="0" anchor="ctr"/>
          <a:lstStyle/>
          <a:p>
            <a:pPr marL="0" indent="0">
              <a:buNone/>
            </a:pPr>
            <a:r>
              <a:rPr lang="en-US" sz="1050" dirty="0">
                <a:solidFill>
                  <a:srgbClr val="5A6B7D"/>
                </a:solidFill>
                <a:latin typeface="Calibri" pitchFamily="34" charset="0"/>
                <a:ea typeface="Calibri" pitchFamily="34" charset="-122"/>
                <a:cs typeface="Calibri" pitchFamily="34" charset="-120"/>
              </a:rPr>
              <a:t>distance de projecteur (max théorique √3 ≈ 1,73)</a:t>
            </a:r>
            <a:endParaRPr lang="en-US" sz="1050" dirty="0"/>
          </a:p>
        </p:txBody>
      </p:sp>
      <p:sp>
        <p:nvSpPr>
          <p:cNvPr id="12" name="Text 9"/>
          <p:cNvSpPr/>
          <p:nvPr/>
        </p:nvSpPr>
        <p:spPr>
          <a:xfrm>
            <a:off x="777240" y="4892040"/>
            <a:ext cx="4846320" cy="1188720"/>
          </a:xfrm>
          <a:prstGeom prst="rect">
            <a:avLst/>
          </a:prstGeom>
          <a:noFill/>
          <a:ln/>
        </p:spPr>
        <p:txBody>
          <a:bodyPr wrap="square" rtlCol="0" anchor="t"/>
          <a:lstStyle/>
          <a:p>
            <a:pPr marL="0" indent="0">
              <a:buNone/>
            </a:pPr>
            <a:r>
              <a:rPr lang="en-US" sz="1100" i="1" dirty="0">
                <a:solidFill>
                  <a:srgbClr val="5A6B7D"/>
                </a:solidFill>
                <a:latin typeface="Calibri" pitchFamily="34" charset="0"/>
                <a:ea typeface="Calibri" pitchFamily="34" charset="-122"/>
                <a:cs typeface="Calibri" pitchFamily="34" charset="-120"/>
              </a:rPr>
              <a:t>Structure quasi inchangée : elle n'est pas portée par un seul individu influent. L'inversion du signe de CP1 donne la même distance — la métrique est invariante au signe.</a:t>
            </a:r>
            <a:endParaRPr lang="en-US" sz="1100" dirty="0"/>
          </a:p>
        </p:txBody>
      </p:sp>
      <p:sp>
        <p:nvSpPr>
          <p:cNvPr id="13" name="Shape 10"/>
          <p:cNvSpPr/>
          <p:nvPr/>
        </p:nvSpPr>
        <p:spPr>
          <a:xfrm>
            <a:off x="6080760" y="1783080"/>
            <a:ext cx="5532120" cy="4389120"/>
          </a:xfrm>
          <a:prstGeom prst="roundRect">
            <a:avLst>
              <a:gd name="adj" fmla="val 187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4" name="Shape 11"/>
          <p:cNvSpPr/>
          <p:nvPr/>
        </p:nvSpPr>
        <p:spPr>
          <a:xfrm>
            <a:off x="6355080" y="2011680"/>
            <a:ext cx="502920" cy="502920"/>
          </a:xfrm>
          <a:prstGeom prst="ellipse">
            <a:avLst/>
          </a:prstGeom>
          <a:solidFill>
            <a:srgbClr val="E8A33D"/>
          </a:solidFill>
          <a:ln/>
        </p:spPr>
        <p:txBody>
          <a:bodyPr/>
          <a:lstStyle/>
          <a:p>
            <a:endParaRPr lang="fr-FR"/>
          </a:p>
        </p:txBody>
      </p:sp>
      <p:pic>
        <p:nvPicPr>
          <p:cNvPr id="15" name="Image 1" descr="C:\Users\AS237666\AppData\Local\Temp\claude\C--Users-AS237666-StudioProjects-cia-invest-app\ee4fdbc2-3ba5-4c88-be2e-a026838ac83d\scratchpad\icons\random_FFFFFF.png"/>
          <p:cNvPicPr>
            <a:picLocks noChangeAspect="1"/>
          </p:cNvPicPr>
          <p:nvPr/>
        </p:nvPicPr>
        <p:blipFill>
          <a:blip r:embed="rId4"/>
          <a:stretch>
            <a:fillRect/>
          </a:stretch>
        </p:blipFill>
        <p:spPr>
          <a:xfrm>
            <a:off x="6420460" y="2077060"/>
            <a:ext cx="372161" cy="372161"/>
          </a:xfrm>
          <a:prstGeom prst="rect">
            <a:avLst/>
          </a:prstGeom>
        </p:spPr>
      </p:pic>
      <p:sp>
        <p:nvSpPr>
          <p:cNvPr id="16" name="Text 12"/>
          <p:cNvSpPr/>
          <p:nvPr/>
        </p:nvSpPr>
        <p:spPr>
          <a:xfrm>
            <a:off x="6995160" y="2057400"/>
            <a:ext cx="4434840" cy="457200"/>
          </a:xfrm>
          <a:prstGeom prst="rect">
            <a:avLst/>
          </a:prstGeom>
          <a:noFill/>
          <a:ln/>
        </p:spPr>
        <p:txBody>
          <a:bodyPr wrap="square" rtlCol="0" anchor="ctr"/>
          <a:lstStyle/>
          <a:p>
            <a:pPr marL="0" indent="0">
              <a:buNone/>
            </a:pPr>
            <a:r>
              <a:rPr lang="en-US" sz="1500" b="1" dirty="0">
                <a:solidFill>
                  <a:srgbClr val="0F2A43"/>
                </a:solidFill>
                <a:latin typeface="Cambria" pitchFamily="34" charset="0"/>
                <a:ea typeface="Cambria" pitchFamily="34" charset="-122"/>
                <a:cs typeface="Cambria" pitchFamily="34" charset="-120"/>
              </a:rPr>
              <a:t>Stabilité par bootstrap (150 tirages)</a:t>
            </a:r>
            <a:endParaRPr lang="en-US" sz="1500" dirty="0"/>
          </a:p>
        </p:txBody>
      </p:sp>
      <p:sp>
        <p:nvSpPr>
          <p:cNvPr id="17" name="Text 13"/>
          <p:cNvSpPr/>
          <p:nvPr/>
        </p:nvSpPr>
        <p:spPr>
          <a:xfrm>
            <a:off x="6355080" y="2697480"/>
            <a:ext cx="5074920" cy="960120"/>
          </a:xfrm>
          <a:prstGeom prst="rect">
            <a:avLst/>
          </a:prstGeom>
          <a:noFill/>
          <a:ln/>
        </p:spPr>
        <p:txBody>
          <a:bodyPr wrap="square" rtlCol="0" anchor="t"/>
          <a:lstStyle/>
          <a:p>
            <a:pPr marL="0" indent="0">
              <a:buNone/>
            </a:pPr>
            <a:r>
              <a:rPr lang="en-US" sz="1150" dirty="0">
                <a:solidFill>
                  <a:srgbClr val="5A6B7D"/>
                </a:solidFill>
                <a:latin typeface="Calibri" pitchFamily="34" charset="0"/>
                <a:ea typeface="Calibri" pitchFamily="34" charset="-122"/>
                <a:cs typeface="Calibri" pitchFamily="34" charset="-120"/>
              </a:rPr>
              <a:t>150 échantillons bootstrap (avec remise, taille 160) : distance de projecteur entre chaque sous-espace CP1-CP3 ré-estimé et l'original — un contrôle interne, pas une validation sur une population différente.</a:t>
            </a:r>
            <a:endParaRPr lang="en-US" sz="1150" dirty="0"/>
          </a:p>
        </p:txBody>
      </p:sp>
      <p:sp>
        <p:nvSpPr>
          <p:cNvPr id="18" name="Shape 14"/>
          <p:cNvSpPr/>
          <p:nvPr/>
        </p:nvSpPr>
        <p:spPr>
          <a:xfrm>
            <a:off x="6355080" y="3703320"/>
            <a:ext cx="5074920" cy="2331720"/>
          </a:xfrm>
          <a:prstGeom prst="roundRect">
            <a:avLst>
              <a:gd name="adj" fmla="val 3529"/>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19" name="Image 2" descr="C:\Users\AS237666\AppData\Local\Temp\claude\C--Users-AS237666-StudioProjects-cia-invest-app\ee4fdbc2-3ba5-4c88-be2e-a026838ac83d\scratchpad\img\trim_cell049_6.png"/>
          <p:cNvPicPr>
            <a:picLocks noChangeAspect="1"/>
          </p:cNvPicPr>
          <p:nvPr/>
        </p:nvPicPr>
        <p:blipFill>
          <a:blip r:embed="rId5"/>
          <a:srcRect/>
          <a:stretch/>
        </p:blipFill>
        <p:spPr>
          <a:xfrm>
            <a:off x="6556248" y="3904488"/>
            <a:ext cx="4672584" cy="1655064"/>
          </a:xfrm>
          <a:prstGeom prst="rect">
            <a:avLst/>
          </a:prstGeom>
        </p:spPr>
      </p:pic>
      <p:sp>
        <p:nvSpPr>
          <p:cNvPr id="20" name="Text 15"/>
          <p:cNvSpPr/>
          <p:nvPr/>
        </p:nvSpPr>
        <p:spPr>
          <a:xfrm>
            <a:off x="6556248" y="5577840"/>
            <a:ext cx="467258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Moyenne 0,125 · écart-type 0,026 · p95 = 0,170 — bien en-deçà de √3</a:t>
            </a:r>
            <a:endParaRPr lang="en-US" sz="1050" dirty="0"/>
          </a:p>
        </p:txBody>
      </p:sp>
      <p:sp>
        <p:nvSpPr>
          <p:cNvPr id="21" name="Text 16"/>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2" name="Text 17"/>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QUESTION 14</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Analyse parallèle : confirmer Kaiser autrement</a:t>
            </a:r>
            <a:endParaRPr lang="en-US" sz="3000" dirty="0"/>
          </a:p>
        </p:txBody>
      </p:sp>
      <p:sp>
        <p:nvSpPr>
          <p:cNvPr id="4" name="Text 2"/>
          <p:cNvSpPr/>
          <p:nvPr/>
        </p:nvSpPr>
        <p:spPr>
          <a:xfrm>
            <a:off x="502920" y="1691640"/>
            <a:ext cx="11155680" cy="777240"/>
          </a:xfrm>
          <a:prstGeom prst="rect">
            <a:avLst/>
          </a:prstGeom>
          <a:noFill/>
          <a:ln/>
        </p:spPr>
        <p:txBody>
          <a:bodyPr wrap="square" rtlCol="0" anchor="t"/>
          <a:lstStyle/>
          <a:p>
            <a:pPr marL="0" indent="0">
              <a:buNone/>
            </a:pPr>
            <a:r>
              <a:rPr lang="en-US" sz="1300" dirty="0">
                <a:solidFill>
                  <a:srgbClr val="5A6B7D"/>
                </a:solidFill>
                <a:latin typeface="Calibri" pitchFamily="34" charset="0"/>
                <a:ea typeface="Calibri" pitchFamily="34" charset="-122"/>
                <a:cs typeface="Calibri" pitchFamily="34" charset="-120"/>
              </a:rPr>
              <a:t>Le critère de Kaiser (seuil = 1) suppose implicitement des variables non corrélées. L'analyse parallèle compare les valeurs propres observées à celles obtenues sur 150 jeux de données permutés (corrélations détruites), et ne retient un axe que si sa valeur propre dépasse le 95ᵉ centile.</a:t>
            </a:r>
            <a:endParaRPr lang="en-US" sz="1300" dirty="0"/>
          </a:p>
        </p:txBody>
      </p:sp>
      <p:sp>
        <p:nvSpPr>
          <p:cNvPr id="5" name="Shape 3"/>
          <p:cNvSpPr/>
          <p:nvPr/>
        </p:nvSpPr>
        <p:spPr>
          <a:xfrm>
            <a:off x="502920" y="2560320"/>
            <a:ext cx="6858000" cy="3611880"/>
          </a:xfrm>
          <a:prstGeom prst="roundRect">
            <a:avLst>
              <a:gd name="adj" fmla="val 2278"/>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pic>
        <p:nvPicPr>
          <p:cNvPr id="6" name="Image 0" descr="C:\Users\AS237666\AppData\Local\Temp\claude\C--Users-AS237666-StudioProjects-cia-invest-app\ee4fdbc2-3ba5-4c88-be2e-a026838ac83d\scratchpad\img\trim_cell053_7.png"/>
          <p:cNvPicPr>
            <a:picLocks noChangeAspect="1"/>
          </p:cNvPicPr>
          <p:nvPr/>
        </p:nvPicPr>
        <p:blipFill>
          <a:blip r:embed="rId3"/>
          <a:srcRect/>
          <a:stretch/>
        </p:blipFill>
        <p:spPr>
          <a:xfrm>
            <a:off x="704088" y="2761488"/>
            <a:ext cx="6455664" cy="2935224"/>
          </a:xfrm>
          <a:prstGeom prst="rect">
            <a:avLst/>
          </a:prstGeom>
        </p:spPr>
      </p:pic>
      <p:sp>
        <p:nvSpPr>
          <p:cNvPr id="7" name="Text 4"/>
          <p:cNvSpPr/>
          <p:nvPr/>
        </p:nvSpPr>
        <p:spPr>
          <a:xfrm>
            <a:off x="704088" y="5715000"/>
            <a:ext cx="6455664" cy="256032"/>
          </a:xfrm>
          <a:prstGeom prst="rect">
            <a:avLst/>
          </a:prstGeom>
          <a:noFill/>
          <a:ln/>
        </p:spPr>
        <p:txBody>
          <a:bodyPr wrap="square" rtlCol="0" anchor="ctr"/>
          <a:lstStyle/>
          <a:p>
            <a:pPr marL="0" indent="0" algn="ctr">
              <a:buNone/>
            </a:pPr>
            <a:r>
              <a:rPr lang="en-US" sz="1050" i="1" dirty="0">
                <a:solidFill>
                  <a:srgbClr val="5A6B7D"/>
                </a:solidFill>
                <a:latin typeface="Calibri" pitchFamily="34" charset="0"/>
                <a:ea typeface="Calibri" pitchFamily="34" charset="-122"/>
                <a:cs typeface="Calibri" pitchFamily="34" charset="-120"/>
              </a:rPr>
              <a:t>Valeurs propres observées vs seuil de permutation (95ᵉ centile)</a:t>
            </a:r>
            <a:endParaRPr lang="en-US" sz="1050" dirty="0"/>
          </a:p>
        </p:txBody>
      </p:sp>
      <p:sp>
        <p:nvSpPr>
          <p:cNvPr id="8" name="Shape 5"/>
          <p:cNvSpPr/>
          <p:nvPr/>
        </p:nvSpPr>
        <p:spPr>
          <a:xfrm>
            <a:off x="7635240" y="2560320"/>
            <a:ext cx="3977640" cy="3749040"/>
          </a:xfrm>
          <a:prstGeom prst="roundRect">
            <a:avLst>
              <a:gd name="adj" fmla="val 2195"/>
            </a:avLst>
          </a:prstGeom>
          <a:solidFill>
            <a:srgbClr val="0F2A43"/>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9" name="Text 6"/>
          <p:cNvSpPr/>
          <p:nvPr/>
        </p:nvSpPr>
        <p:spPr>
          <a:xfrm>
            <a:off x="7863840" y="2743200"/>
            <a:ext cx="3520440" cy="457200"/>
          </a:xfrm>
          <a:prstGeom prst="rect">
            <a:avLst/>
          </a:prstGeom>
          <a:noFill/>
          <a:ln/>
        </p:spPr>
        <p:txBody>
          <a:bodyPr wrap="square" rtlCol="0" anchor="ctr"/>
          <a:lstStyle/>
          <a:p>
            <a:pPr marL="0" indent="0">
              <a:buNone/>
            </a:pPr>
            <a:r>
              <a:rPr lang="en-US" sz="1700" b="1" dirty="0">
                <a:solidFill>
                  <a:srgbClr val="E8A33D"/>
                </a:solidFill>
                <a:latin typeface="Cambria" pitchFamily="34" charset="0"/>
                <a:ea typeface="Cambria" pitchFamily="34" charset="-122"/>
                <a:cs typeface="Cambria" pitchFamily="34" charset="-120"/>
              </a:rPr>
              <a:t>3 axes confirmés</a:t>
            </a:r>
            <a:endParaRPr lang="en-US" sz="1700" dirty="0"/>
          </a:p>
        </p:txBody>
      </p:sp>
      <p:sp>
        <p:nvSpPr>
          <p:cNvPr id="10" name="Text 7"/>
          <p:cNvSpPr/>
          <p:nvPr/>
        </p:nvSpPr>
        <p:spPr>
          <a:xfrm>
            <a:off x="7863840" y="3337560"/>
            <a:ext cx="9144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CP1</a:t>
            </a:r>
            <a:endParaRPr lang="en-US" sz="1300" dirty="0"/>
          </a:p>
        </p:txBody>
      </p:sp>
      <p:sp>
        <p:nvSpPr>
          <p:cNvPr id="11" name="Text 8"/>
          <p:cNvSpPr/>
          <p:nvPr/>
        </p:nvSpPr>
        <p:spPr>
          <a:xfrm>
            <a:off x="8778240" y="3337560"/>
            <a:ext cx="1371600" cy="365760"/>
          </a:xfrm>
          <a:prstGeom prst="rect">
            <a:avLst/>
          </a:prstGeom>
          <a:noFill/>
          <a:ln/>
        </p:spPr>
        <p:txBody>
          <a:bodyPr wrap="square" rtlCol="0" anchor="ctr"/>
          <a:lstStyle/>
          <a:p>
            <a:pPr marL="0" indent="0">
              <a:buNone/>
            </a:pPr>
            <a:r>
              <a:rPr lang="en-US" sz="1150" dirty="0">
                <a:solidFill>
                  <a:srgbClr val="D7E2EC"/>
                </a:solidFill>
                <a:latin typeface="Calibri" pitchFamily="34" charset="0"/>
                <a:ea typeface="Calibri" pitchFamily="34" charset="-122"/>
                <a:cs typeface="Calibri" pitchFamily="34" charset="-120"/>
              </a:rPr>
              <a:t>λ=4,568</a:t>
            </a:r>
            <a:endParaRPr lang="en-US" sz="1150" dirty="0"/>
          </a:p>
        </p:txBody>
      </p:sp>
      <p:sp>
        <p:nvSpPr>
          <p:cNvPr id="12" name="Text 9"/>
          <p:cNvSpPr/>
          <p:nvPr/>
        </p:nvSpPr>
        <p:spPr>
          <a:xfrm>
            <a:off x="10058400" y="3337560"/>
            <a:ext cx="1463040" cy="365760"/>
          </a:xfrm>
          <a:prstGeom prst="rect">
            <a:avLst/>
          </a:prstGeom>
          <a:noFill/>
          <a:ln/>
        </p:spPr>
        <p:txBody>
          <a:bodyPr wrap="square" rtlCol="0" anchor="ctr"/>
          <a:lstStyle/>
          <a:p>
            <a:pPr marL="0" indent="0">
              <a:buNone/>
            </a:pPr>
            <a:r>
              <a:rPr lang="en-US" sz="1100" dirty="0">
                <a:solidFill>
                  <a:srgbClr val="9FB6C8"/>
                </a:solidFill>
                <a:latin typeface="Calibri" pitchFamily="34" charset="0"/>
                <a:ea typeface="Calibri" pitchFamily="34" charset="-122"/>
                <a:cs typeface="Calibri" pitchFamily="34" charset="-120"/>
              </a:rPr>
              <a:t>seuil 1,556</a:t>
            </a:r>
            <a:endParaRPr lang="en-US" sz="1100" dirty="0"/>
          </a:p>
        </p:txBody>
      </p:sp>
      <p:sp>
        <p:nvSpPr>
          <p:cNvPr id="13" name="Text 10"/>
          <p:cNvSpPr/>
          <p:nvPr/>
        </p:nvSpPr>
        <p:spPr>
          <a:xfrm>
            <a:off x="7863840" y="3749040"/>
            <a:ext cx="9144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CP2</a:t>
            </a:r>
            <a:endParaRPr lang="en-US" sz="1300" dirty="0"/>
          </a:p>
        </p:txBody>
      </p:sp>
      <p:sp>
        <p:nvSpPr>
          <p:cNvPr id="14" name="Text 11"/>
          <p:cNvSpPr/>
          <p:nvPr/>
        </p:nvSpPr>
        <p:spPr>
          <a:xfrm>
            <a:off x="8778240" y="3749040"/>
            <a:ext cx="1371600" cy="365760"/>
          </a:xfrm>
          <a:prstGeom prst="rect">
            <a:avLst/>
          </a:prstGeom>
          <a:noFill/>
          <a:ln/>
        </p:spPr>
        <p:txBody>
          <a:bodyPr wrap="square" rtlCol="0" anchor="ctr"/>
          <a:lstStyle/>
          <a:p>
            <a:pPr marL="0" indent="0">
              <a:buNone/>
            </a:pPr>
            <a:r>
              <a:rPr lang="en-US" sz="1150" dirty="0">
                <a:solidFill>
                  <a:srgbClr val="D7E2EC"/>
                </a:solidFill>
                <a:latin typeface="Calibri" pitchFamily="34" charset="0"/>
                <a:ea typeface="Calibri" pitchFamily="34" charset="-122"/>
                <a:cs typeface="Calibri" pitchFamily="34" charset="-120"/>
              </a:rPr>
              <a:t>λ=2,941</a:t>
            </a:r>
            <a:endParaRPr lang="en-US" sz="1150" dirty="0"/>
          </a:p>
        </p:txBody>
      </p:sp>
      <p:sp>
        <p:nvSpPr>
          <p:cNvPr id="15" name="Text 12"/>
          <p:cNvSpPr/>
          <p:nvPr/>
        </p:nvSpPr>
        <p:spPr>
          <a:xfrm>
            <a:off x="10058400" y="3749040"/>
            <a:ext cx="1463040" cy="365760"/>
          </a:xfrm>
          <a:prstGeom prst="rect">
            <a:avLst/>
          </a:prstGeom>
          <a:noFill/>
          <a:ln/>
        </p:spPr>
        <p:txBody>
          <a:bodyPr wrap="square" rtlCol="0" anchor="ctr"/>
          <a:lstStyle/>
          <a:p>
            <a:pPr marL="0" indent="0">
              <a:buNone/>
            </a:pPr>
            <a:r>
              <a:rPr lang="en-US" sz="1100" dirty="0">
                <a:solidFill>
                  <a:srgbClr val="9FB6C8"/>
                </a:solidFill>
                <a:latin typeface="Calibri" pitchFamily="34" charset="0"/>
                <a:ea typeface="Calibri" pitchFamily="34" charset="-122"/>
                <a:cs typeface="Calibri" pitchFamily="34" charset="-120"/>
              </a:rPr>
              <a:t>seuil 1,392</a:t>
            </a:r>
            <a:endParaRPr lang="en-US" sz="1100" dirty="0"/>
          </a:p>
        </p:txBody>
      </p:sp>
      <p:sp>
        <p:nvSpPr>
          <p:cNvPr id="16" name="Text 13"/>
          <p:cNvSpPr/>
          <p:nvPr/>
        </p:nvSpPr>
        <p:spPr>
          <a:xfrm>
            <a:off x="7863840" y="4160520"/>
            <a:ext cx="9144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CP3</a:t>
            </a:r>
            <a:endParaRPr lang="en-US" sz="1300" dirty="0"/>
          </a:p>
        </p:txBody>
      </p:sp>
      <p:sp>
        <p:nvSpPr>
          <p:cNvPr id="17" name="Text 14"/>
          <p:cNvSpPr/>
          <p:nvPr/>
        </p:nvSpPr>
        <p:spPr>
          <a:xfrm>
            <a:off x="8778240" y="4160520"/>
            <a:ext cx="1371600" cy="365760"/>
          </a:xfrm>
          <a:prstGeom prst="rect">
            <a:avLst/>
          </a:prstGeom>
          <a:noFill/>
          <a:ln/>
        </p:spPr>
        <p:txBody>
          <a:bodyPr wrap="square" rtlCol="0" anchor="ctr"/>
          <a:lstStyle/>
          <a:p>
            <a:pPr marL="0" indent="0">
              <a:buNone/>
            </a:pPr>
            <a:r>
              <a:rPr lang="en-US" sz="1150" dirty="0">
                <a:solidFill>
                  <a:srgbClr val="D7E2EC"/>
                </a:solidFill>
                <a:latin typeface="Calibri" pitchFamily="34" charset="0"/>
                <a:ea typeface="Calibri" pitchFamily="34" charset="-122"/>
                <a:cs typeface="Calibri" pitchFamily="34" charset="-120"/>
              </a:rPr>
              <a:t>λ=2,095</a:t>
            </a:r>
            <a:endParaRPr lang="en-US" sz="1150" dirty="0"/>
          </a:p>
        </p:txBody>
      </p:sp>
      <p:sp>
        <p:nvSpPr>
          <p:cNvPr id="18" name="Text 15"/>
          <p:cNvSpPr/>
          <p:nvPr/>
        </p:nvSpPr>
        <p:spPr>
          <a:xfrm>
            <a:off x="10058400" y="4160520"/>
            <a:ext cx="1463040" cy="365760"/>
          </a:xfrm>
          <a:prstGeom prst="rect">
            <a:avLst/>
          </a:prstGeom>
          <a:noFill/>
          <a:ln/>
        </p:spPr>
        <p:txBody>
          <a:bodyPr wrap="square" rtlCol="0" anchor="ctr"/>
          <a:lstStyle/>
          <a:p>
            <a:pPr marL="0" indent="0">
              <a:buNone/>
            </a:pPr>
            <a:r>
              <a:rPr lang="en-US" sz="1100" dirty="0">
                <a:solidFill>
                  <a:srgbClr val="9FB6C8"/>
                </a:solidFill>
                <a:latin typeface="Calibri" pitchFamily="34" charset="0"/>
                <a:ea typeface="Calibri" pitchFamily="34" charset="-122"/>
                <a:cs typeface="Calibri" pitchFamily="34" charset="-120"/>
              </a:rPr>
              <a:t>seuil 1,286</a:t>
            </a:r>
            <a:endParaRPr lang="en-US" sz="1100" dirty="0"/>
          </a:p>
        </p:txBody>
      </p:sp>
      <p:sp>
        <p:nvSpPr>
          <p:cNvPr id="19" name="Text 16"/>
          <p:cNvSpPr/>
          <p:nvPr/>
        </p:nvSpPr>
        <p:spPr>
          <a:xfrm>
            <a:off x="7863840" y="4709160"/>
            <a:ext cx="3520440" cy="548640"/>
          </a:xfrm>
          <a:prstGeom prst="rect">
            <a:avLst/>
          </a:prstGeom>
          <a:noFill/>
          <a:ln/>
        </p:spPr>
        <p:txBody>
          <a:bodyPr wrap="square" rtlCol="0" anchor="t"/>
          <a:lstStyle/>
          <a:p>
            <a:pPr marL="0" indent="0">
              <a:buNone/>
            </a:pPr>
            <a:r>
              <a:rPr lang="en-US" sz="1050" i="1" dirty="0">
                <a:solidFill>
                  <a:srgbClr val="9FB6C8"/>
                </a:solidFill>
                <a:latin typeface="Calibri" pitchFamily="34" charset="0"/>
                <a:ea typeface="Calibri" pitchFamily="34" charset="-122"/>
                <a:cs typeface="Calibri" pitchFamily="34" charset="-120"/>
              </a:rPr>
              <a:t>CP4 à CP11 : toutes sous leur seuil de permutation → non retenues.</a:t>
            </a:r>
            <a:endParaRPr lang="en-US" sz="1050" dirty="0"/>
          </a:p>
        </p:txBody>
      </p:sp>
      <p:sp>
        <p:nvSpPr>
          <p:cNvPr id="20" name="Shape 17"/>
          <p:cNvSpPr/>
          <p:nvPr/>
        </p:nvSpPr>
        <p:spPr>
          <a:xfrm>
            <a:off x="7863840" y="5349240"/>
            <a:ext cx="3520440" cy="0"/>
          </a:xfrm>
          <a:prstGeom prst="line">
            <a:avLst/>
          </a:prstGeom>
          <a:noFill/>
          <a:ln w="12700">
            <a:solidFill>
              <a:srgbClr val="24425C"/>
            </a:solidFill>
            <a:prstDash val="solid"/>
          </a:ln>
        </p:spPr>
        <p:txBody>
          <a:bodyPr/>
          <a:lstStyle/>
          <a:p>
            <a:endParaRPr lang="fr-FR"/>
          </a:p>
        </p:txBody>
      </p:sp>
      <p:sp>
        <p:nvSpPr>
          <p:cNvPr id="21" name="Text 18"/>
          <p:cNvSpPr/>
          <p:nvPr/>
        </p:nvSpPr>
        <p:spPr>
          <a:xfrm>
            <a:off x="7863840" y="5486400"/>
            <a:ext cx="3520440" cy="777240"/>
          </a:xfrm>
          <a:prstGeom prst="rect">
            <a:avLst/>
          </a:prstGeom>
          <a:noFill/>
          <a:ln/>
        </p:spPr>
        <p:txBody>
          <a:bodyPr wrap="square" rtlCol="0" anchor="t"/>
          <a:lstStyle/>
          <a:p>
            <a:pPr marL="0" indent="0">
              <a:buNone/>
            </a:pPr>
            <a:r>
              <a:rPr lang="en-US" sz="1050" dirty="0">
                <a:solidFill>
                  <a:srgbClr val="D7E2EC"/>
                </a:solidFill>
                <a:latin typeface="Calibri" pitchFamily="34" charset="0"/>
                <a:ea typeface="Calibri" pitchFamily="34" charset="-122"/>
                <a:cs typeface="Calibri" pitchFamily="34" charset="-120"/>
              </a:rPr>
              <a:t>Quatre critères indépendants (Kaiser, seuil 80 %, coude, permutation) convergent : la confiance dans le choix de 3 axes s'en trouve renforcée.</a:t>
            </a:r>
            <a:endParaRPr lang="en-US" sz="1050" dirty="0"/>
          </a:p>
        </p:txBody>
      </p:sp>
      <p:sp>
        <p:nvSpPr>
          <p:cNvPr id="22" name="Text 19"/>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3" name="Text 20"/>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9"/>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QUESTION 15</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Projeter un nouveau profil, sans re-calcul</a:t>
            </a:r>
            <a:endParaRPr lang="en-US" sz="3000" dirty="0"/>
          </a:p>
        </p:txBody>
      </p:sp>
      <p:sp>
        <p:nvSpPr>
          <p:cNvPr id="4" name="Text 2"/>
          <p:cNvSpPr/>
          <p:nvPr/>
        </p:nvSpPr>
        <p:spPr>
          <a:xfrm>
            <a:off x="502920" y="1737360"/>
            <a:ext cx="11155680" cy="685800"/>
          </a:xfrm>
          <a:prstGeom prst="rect">
            <a:avLst/>
          </a:prstGeom>
          <a:noFill/>
          <a:ln/>
        </p:spPr>
        <p:txBody>
          <a:bodyPr wrap="square" rtlCol="0" anchor="t"/>
          <a:lstStyle/>
          <a:p>
            <a:pPr marL="0" indent="0">
              <a:buNone/>
            </a:pPr>
            <a:r>
              <a:rPr lang="en-US" sz="1350" dirty="0">
                <a:solidFill>
                  <a:srgbClr val="5A6B7D"/>
                </a:solidFill>
                <a:latin typeface="Calibri" pitchFamily="34" charset="0"/>
                <a:ea typeface="Calibri" pitchFamily="34" charset="-122"/>
                <a:cs typeface="Calibri" pitchFamily="34" charset="-120"/>
              </a:rPr>
              <a:t>Un serveur fictif au profil extrême (forte charge, forte exposition, résilience dégradée) est projeté dans l'espace ACP existant, en réutilisant le scaler et la PCA déjà ajustés (transform seul, jamais de nouveau fit).</a:t>
            </a:r>
            <a:endParaRPr lang="en-US" sz="1350" dirty="0"/>
          </a:p>
        </p:txBody>
      </p:sp>
      <p:sp>
        <p:nvSpPr>
          <p:cNvPr id="5" name="Shape 3"/>
          <p:cNvSpPr/>
          <p:nvPr/>
        </p:nvSpPr>
        <p:spPr>
          <a:xfrm>
            <a:off x="502920" y="2606040"/>
            <a:ext cx="2286000" cy="1463040"/>
          </a:xfrm>
          <a:prstGeom prst="roundRect">
            <a:avLst>
              <a:gd name="adj" fmla="val 562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6" name="Shape 4"/>
          <p:cNvSpPr/>
          <p:nvPr/>
        </p:nvSpPr>
        <p:spPr>
          <a:xfrm>
            <a:off x="502920" y="2606040"/>
            <a:ext cx="2286000" cy="91440"/>
          </a:xfrm>
          <a:prstGeom prst="roundRect">
            <a:avLst/>
          </a:prstGeom>
          <a:solidFill>
            <a:srgbClr val="1C7293"/>
          </a:solidFill>
          <a:ln/>
        </p:spPr>
        <p:txBody>
          <a:bodyPr/>
          <a:lstStyle/>
          <a:p>
            <a:endParaRPr lang="fr-FR"/>
          </a:p>
        </p:txBody>
      </p:sp>
      <p:sp>
        <p:nvSpPr>
          <p:cNvPr id="7" name="Text 5"/>
          <p:cNvSpPr/>
          <p:nvPr/>
        </p:nvSpPr>
        <p:spPr>
          <a:xfrm>
            <a:off x="502920" y="2788920"/>
            <a:ext cx="2286000" cy="777240"/>
          </a:xfrm>
          <a:prstGeom prst="rect">
            <a:avLst/>
          </a:prstGeom>
          <a:noFill/>
          <a:ln/>
        </p:spPr>
        <p:txBody>
          <a:bodyPr wrap="square"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6,23</a:t>
            </a:r>
            <a:endParaRPr lang="en-US" sz="3000" dirty="0"/>
          </a:p>
        </p:txBody>
      </p:sp>
      <p:sp>
        <p:nvSpPr>
          <p:cNvPr id="8" name="Text 6"/>
          <p:cNvSpPr/>
          <p:nvPr/>
        </p:nvSpPr>
        <p:spPr>
          <a:xfrm>
            <a:off x="502920" y="3566160"/>
            <a:ext cx="2286000" cy="365760"/>
          </a:xfrm>
          <a:prstGeom prst="rect">
            <a:avLst/>
          </a:prstGeom>
          <a:noFill/>
          <a:ln/>
        </p:spPr>
        <p:txBody>
          <a:bodyPr wrap="square" rtlCol="0" anchor="ctr"/>
          <a:lstStyle/>
          <a:p>
            <a:pPr marL="0" indent="0" algn="ctr">
              <a:buNone/>
            </a:pPr>
            <a:r>
              <a:rPr lang="en-US" sz="1200" b="1" dirty="0">
                <a:solidFill>
                  <a:srgbClr val="5A6B7D"/>
                </a:solidFill>
                <a:latin typeface="Calibri" pitchFamily="34" charset="0"/>
                <a:ea typeface="Calibri" pitchFamily="34" charset="-122"/>
                <a:cs typeface="Calibri" pitchFamily="34" charset="-120"/>
              </a:rPr>
              <a:t>CP1</a:t>
            </a:r>
            <a:endParaRPr lang="en-US" sz="1200" dirty="0"/>
          </a:p>
        </p:txBody>
      </p:sp>
      <p:sp>
        <p:nvSpPr>
          <p:cNvPr id="9" name="Shape 7"/>
          <p:cNvSpPr/>
          <p:nvPr/>
        </p:nvSpPr>
        <p:spPr>
          <a:xfrm>
            <a:off x="2926080" y="2606040"/>
            <a:ext cx="2286000" cy="1463040"/>
          </a:xfrm>
          <a:prstGeom prst="roundRect">
            <a:avLst>
              <a:gd name="adj" fmla="val 562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0" name="Shape 8"/>
          <p:cNvSpPr/>
          <p:nvPr/>
        </p:nvSpPr>
        <p:spPr>
          <a:xfrm>
            <a:off x="2926080" y="2606040"/>
            <a:ext cx="2286000" cy="91440"/>
          </a:xfrm>
          <a:prstGeom prst="roundRect">
            <a:avLst/>
          </a:prstGeom>
          <a:solidFill>
            <a:srgbClr val="E8A33D"/>
          </a:solidFill>
          <a:ln/>
        </p:spPr>
        <p:txBody>
          <a:bodyPr/>
          <a:lstStyle/>
          <a:p>
            <a:endParaRPr lang="fr-FR"/>
          </a:p>
        </p:txBody>
      </p:sp>
      <p:sp>
        <p:nvSpPr>
          <p:cNvPr id="11" name="Text 9"/>
          <p:cNvSpPr/>
          <p:nvPr/>
        </p:nvSpPr>
        <p:spPr>
          <a:xfrm>
            <a:off x="2926080" y="2788920"/>
            <a:ext cx="2286000" cy="777240"/>
          </a:xfrm>
          <a:prstGeom prst="rect">
            <a:avLst/>
          </a:prstGeom>
          <a:noFill/>
          <a:ln/>
        </p:spPr>
        <p:txBody>
          <a:bodyPr wrap="square"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0,81</a:t>
            </a:r>
            <a:endParaRPr lang="en-US" sz="3000" dirty="0"/>
          </a:p>
        </p:txBody>
      </p:sp>
      <p:sp>
        <p:nvSpPr>
          <p:cNvPr id="12" name="Text 10"/>
          <p:cNvSpPr/>
          <p:nvPr/>
        </p:nvSpPr>
        <p:spPr>
          <a:xfrm>
            <a:off x="2926080" y="3566160"/>
            <a:ext cx="2286000" cy="365760"/>
          </a:xfrm>
          <a:prstGeom prst="rect">
            <a:avLst/>
          </a:prstGeom>
          <a:noFill/>
          <a:ln/>
        </p:spPr>
        <p:txBody>
          <a:bodyPr wrap="square" rtlCol="0" anchor="ctr"/>
          <a:lstStyle/>
          <a:p>
            <a:pPr marL="0" indent="0" algn="ctr">
              <a:buNone/>
            </a:pPr>
            <a:r>
              <a:rPr lang="en-US" sz="1200" b="1" dirty="0">
                <a:solidFill>
                  <a:srgbClr val="5A6B7D"/>
                </a:solidFill>
                <a:latin typeface="Calibri" pitchFamily="34" charset="0"/>
                <a:ea typeface="Calibri" pitchFamily="34" charset="-122"/>
                <a:cs typeface="Calibri" pitchFamily="34" charset="-120"/>
              </a:rPr>
              <a:t>CP2</a:t>
            </a:r>
            <a:endParaRPr lang="en-US" sz="1200" dirty="0"/>
          </a:p>
        </p:txBody>
      </p:sp>
      <p:sp>
        <p:nvSpPr>
          <p:cNvPr id="13" name="Shape 11"/>
          <p:cNvSpPr/>
          <p:nvPr/>
        </p:nvSpPr>
        <p:spPr>
          <a:xfrm>
            <a:off x="5349240" y="2606040"/>
            <a:ext cx="2286000" cy="1463040"/>
          </a:xfrm>
          <a:prstGeom prst="roundRect">
            <a:avLst>
              <a:gd name="adj" fmla="val 5625"/>
            </a:avLst>
          </a:prstGeom>
          <a:solidFill>
            <a:srgbClr val="FFFFFF"/>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4" name="Shape 12"/>
          <p:cNvSpPr/>
          <p:nvPr/>
        </p:nvSpPr>
        <p:spPr>
          <a:xfrm>
            <a:off x="5349240" y="2606040"/>
            <a:ext cx="2286000" cy="91440"/>
          </a:xfrm>
          <a:prstGeom prst="roundRect">
            <a:avLst/>
          </a:prstGeom>
          <a:solidFill>
            <a:srgbClr val="3FA796"/>
          </a:solidFill>
          <a:ln/>
        </p:spPr>
        <p:txBody>
          <a:bodyPr/>
          <a:lstStyle/>
          <a:p>
            <a:endParaRPr lang="fr-FR"/>
          </a:p>
        </p:txBody>
      </p:sp>
      <p:sp>
        <p:nvSpPr>
          <p:cNvPr id="15" name="Text 13"/>
          <p:cNvSpPr/>
          <p:nvPr/>
        </p:nvSpPr>
        <p:spPr>
          <a:xfrm>
            <a:off x="5349240" y="2788920"/>
            <a:ext cx="2286000" cy="777240"/>
          </a:xfrm>
          <a:prstGeom prst="rect">
            <a:avLst/>
          </a:prstGeom>
          <a:noFill/>
          <a:ln/>
        </p:spPr>
        <p:txBody>
          <a:bodyPr wrap="square" rtlCol="0" anchor="ctr"/>
          <a:lstStyle/>
          <a:p>
            <a:pPr marL="0" indent="0" algn="ctr">
              <a:buNone/>
            </a:pPr>
            <a:r>
              <a:rPr lang="en-US" sz="3000" b="1" dirty="0">
                <a:solidFill>
                  <a:srgbClr val="0F2A43"/>
                </a:solidFill>
                <a:latin typeface="Cambria" pitchFamily="34" charset="0"/>
                <a:ea typeface="Cambria" pitchFamily="34" charset="-122"/>
                <a:cs typeface="Cambria" pitchFamily="34" charset="-120"/>
              </a:rPr>
              <a:t>-1,32</a:t>
            </a:r>
            <a:endParaRPr lang="en-US" sz="3000" dirty="0"/>
          </a:p>
        </p:txBody>
      </p:sp>
      <p:sp>
        <p:nvSpPr>
          <p:cNvPr id="16" name="Text 14"/>
          <p:cNvSpPr/>
          <p:nvPr/>
        </p:nvSpPr>
        <p:spPr>
          <a:xfrm>
            <a:off x="5349240" y="3566160"/>
            <a:ext cx="2286000" cy="365760"/>
          </a:xfrm>
          <a:prstGeom prst="rect">
            <a:avLst/>
          </a:prstGeom>
          <a:noFill/>
          <a:ln/>
        </p:spPr>
        <p:txBody>
          <a:bodyPr wrap="square" rtlCol="0" anchor="ctr"/>
          <a:lstStyle/>
          <a:p>
            <a:pPr marL="0" indent="0" algn="ctr">
              <a:buNone/>
            </a:pPr>
            <a:r>
              <a:rPr lang="en-US" sz="1200" b="1" dirty="0">
                <a:solidFill>
                  <a:srgbClr val="5A6B7D"/>
                </a:solidFill>
                <a:latin typeface="Calibri" pitchFamily="34" charset="0"/>
                <a:ea typeface="Calibri" pitchFamily="34" charset="-122"/>
                <a:cs typeface="Calibri" pitchFamily="34" charset="-120"/>
              </a:rPr>
              <a:t>CP3</a:t>
            </a:r>
            <a:endParaRPr lang="en-US" sz="1200" dirty="0"/>
          </a:p>
        </p:txBody>
      </p:sp>
      <p:sp>
        <p:nvSpPr>
          <p:cNvPr id="17" name="Shape 15"/>
          <p:cNvSpPr/>
          <p:nvPr/>
        </p:nvSpPr>
        <p:spPr>
          <a:xfrm>
            <a:off x="7818120" y="2606040"/>
            <a:ext cx="3794760" cy="3611880"/>
          </a:xfrm>
          <a:prstGeom prst="roundRect">
            <a:avLst>
              <a:gd name="adj" fmla="val 2278"/>
            </a:avLst>
          </a:prstGeom>
          <a:solidFill>
            <a:srgbClr val="0F2A43"/>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18" name="Shape 16"/>
          <p:cNvSpPr/>
          <p:nvPr/>
        </p:nvSpPr>
        <p:spPr>
          <a:xfrm>
            <a:off x="8092440" y="2834640"/>
            <a:ext cx="457200" cy="457200"/>
          </a:xfrm>
          <a:prstGeom prst="ellipse">
            <a:avLst/>
          </a:prstGeom>
          <a:solidFill>
            <a:srgbClr val="E8A33D"/>
          </a:solidFill>
          <a:ln/>
        </p:spPr>
        <p:txBody>
          <a:bodyPr/>
          <a:lstStyle/>
          <a:p>
            <a:endParaRPr lang="fr-FR"/>
          </a:p>
        </p:txBody>
      </p:sp>
      <p:pic>
        <p:nvPicPr>
          <p:cNvPr id="19" name="Image 0" descr="C:\Users\AS237666\AppData\Local\Temp\claude\C--Users-AS237666-StudioProjects-cia-invest-app\ee4fdbc2-3ba5-4c88-be2e-a026838ac83d\scratchpad\icons\crosshair_FFFFFF.png"/>
          <p:cNvPicPr>
            <a:picLocks noChangeAspect="1"/>
          </p:cNvPicPr>
          <p:nvPr/>
        </p:nvPicPr>
        <p:blipFill>
          <a:blip r:embed="rId3"/>
          <a:stretch>
            <a:fillRect/>
          </a:stretch>
        </p:blipFill>
        <p:spPr>
          <a:xfrm>
            <a:off x="8151876" y="2894076"/>
            <a:ext cx="338328" cy="338328"/>
          </a:xfrm>
          <a:prstGeom prst="rect">
            <a:avLst/>
          </a:prstGeom>
        </p:spPr>
      </p:pic>
      <p:sp>
        <p:nvSpPr>
          <p:cNvPr id="20" name="Text 17"/>
          <p:cNvSpPr/>
          <p:nvPr/>
        </p:nvSpPr>
        <p:spPr>
          <a:xfrm>
            <a:off x="8092440" y="3429000"/>
            <a:ext cx="3291840" cy="457200"/>
          </a:xfrm>
          <a:prstGeom prst="rect">
            <a:avLst/>
          </a:prstGeom>
          <a:noFill/>
          <a:ln/>
        </p:spPr>
        <p:txBody>
          <a:bodyPr wrap="square" rtlCol="0" anchor="ctr"/>
          <a:lstStyle/>
          <a:p>
            <a:pPr marL="0" indent="0">
              <a:buNone/>
            </a:pPr>
            <a:r>
              <a:rPr lang="en-US" sz="1400" b="1" dirty="0">
                <a:solidFill>
                  <a:srgbClr val="FFFFFF"/>
                </a:solidFill>
                <a:latin typeface="Cambria" pitchFamily="34" charset="0"/>
                <a:ea typeface="Cambria" pitchFamily="34" charset="-122"/>
                <a:cs typeface="Cambria" pitchFamily="34" charset="-120"/>
              </a:rPr>
              <a:t>Un profil extrême, mais cohérent</a:t>
            </a:r>
            <a:endParaRPr lang="en-US" sz="1400" dirty="0"/>
          </a:p>
        </p:txBody>
      </p:sp>
      <p:sp>
        <p:nvSpPr>
          <p:cNvPr id="21" name="Text 18"/>
          <p:cNvSpPr/>
          <p:nvPr/>
        </p:nvSpPr>
        <p:spPr>
          <a:xfrm>
            <a:off x="8092440" y="3931920"/>
            <a:ext cx="3291840" cy="1005840"/>
          </a:xfrm>
          <a:prstGeom prst="rect">
            <a:avLst/>
          </a:prstGeom>
          <a:noFill/>
          <a:ln/>
        </p:spPr>
        <p:txBody>
          <a:bodyPr wrap="square" rtlCol="0" anchor="t"/>
          <a:lstStyle/>
          <a:p>
            <a:pPr marL="0" indent="0">
              <a:buNone/>
            </a:pPr>
            <a:r>
              <a:rPr lang="en-US" sz="1100" dirty="0">
                <a:solidFill>
                  <a:srgbClr val="D7E2EC"/>
                </a:solidFill>
                <a:latin typeface="Calibri" pitchFamily="34" charset="0"/>
                <a:ea typeface="Calibri" pitchFamily="34" charset="-122"/>
                <a:cs typeface="Calibri" pitchFamily="34" charset="-120"/>
              </a:rPr>
              <a:t>CP1 = 6,23, largement au-dessus de la moyenne des serveurs déjà étiquetés « exposé » (1,50) — cohérent avec un cumul charge + exposition + faible résilience.</a:t>
            </a:r>
            <a:endParaRPr lang="en-US" sz="1100" dirty="0"/>
          </a:p>
        </p:txBody>
      </p:sp>
      <p:sp>
        <p:nvSpPr>
          <p:cNvPr id="22" name="Text 19"/>
          <p:cNvSpPr/>
          <p:nvPr/>
        </p:nvSpPr>
        <p:spPr>
          <a:xfrm>
            <a:off x="8092440" y="5029200"/>
            <a:ext cx="3291840" cy="1097280"/>
          </a:xfrm>
          <a:prstGeom prst="rect">
            <a:avLst/>
          </a:prstGeom>
          <a:noFill/>
          <a:ln/>
        </p:spPr>
        <p:txBody>
          <a:bodyPr wrap="square" rtlCol="0" anchor="t"/>
          <a:lstStyle/>
          <a:p>
            <a:pPr marL="0" indent="0">
              <a:buNone/>
            </a:pPr>
            <a:r>
              <a:rPr lang="en-US" sz="1050" i="1" dirty="0">
                <a:solidFill>
                  <a:srgbClr val="E8A33D"/>
                </a:solidFill>
                <a:latin typeface="Calibri" pitchFamily="34" charset="0"/>
                <a:ea typeface="Calibri" pitchFamily="34" charset="-122"/>
                <a:cs typeface="Calibri" pitchFamily="34" charset="-120"/>
              </a:rPr>
              <a:t>Erreur de reconstruction (3 axes) : 0,065 — plus faible que celle de seulement 13 % des serveurs d'origine, mais un seul point ne permet aucune généralisation statistique.</a:t>
            </a:r>
            <a:endParaRPr lang="en-US" sz="1050" dirty="0"/>
          </a:p>
        </p:txBody>
      </p:sp>
      <p:sp>
        <p:nvSpPr>
          <p:cNvPr id="23" name="Text 20"/>
          <p:cNvSpPr/>
          <p:nvPr/>
        </p:nvSpPr>
        <p:spPr>
          <a:xfrm>
            <a:off x="502920" y="4434840"/>
            <a:ext cx="6949440" cy="914400"/>
          </a:xfrm>
          <a:prstGeom prst="rect">
            <a:avLst/>
          </a:prstGeom>
          <a:noFill/>
          <a:ln/>
        </p:spPr>
        <p:txBody>
          <a:bodyPr wrap="square" rtlCol="0" anchor="t"/>
          <a:lstStyle/>
          <a:p>
            <a:pPr marL="0" indent="0">
              <a:buNone/>
            </a:pPr>
            <a:r>
              <a:rPr lang="en-US" sz="1250" i="1" dirty="0">
                <a:solidFill>
                  <a:srgbClr val="5A6B7D"/>
                </a:solidFill>
                <a:latin typeface="Calibri" pitchFamily="34" charset="0"/>
                <a:ea typeface="Calibri" pitchFamily="34" charset="-122"/>
                <a:cs typeface="Calibri" pitchFamily="34" charset="-120"/>
              </a:rPr>
              <a:t>Ce cas illustre le mécanisme de projection hors-échantillon dans un repère fixé — un usage pertinent pour un suivi continu en production.</a:t>
            </a:r>
            <a:endParaRPr lang="en-US" sz="1250" dirty="0"/>
          </a:p>
        </p:txBody>
      </p:sp>
      <p:sp>
        <p:nvSpPr>
          <p:cNvPr id="24" name="Text 21"/>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25" name="Text 22"/>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04 · QUESTION 16</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0F2A43"/>
                </a:solidFill>
                <a:latin typeface="Cambria" pitchFamily="34" charset="0"/>
                <a:ea typeface="Cambria" pitchFamily="34" charset="-122"/>
                <a:cs typeface="Cambria" pitchFamily="34" charset="-120"/>
              </a:rPr>
              <a:t>Tableau de bord : quels serveurs examiner en priorité ?</a:t>
            </a:r>
            <a:endParaRPr lang="en-US" sz="3000" dirty="0"/>
          </a:p>
        </p:txBody>
      </p:sp>
      <p:sp>
        <p:nvSpPr>
          <p:cNvPr id="4" name="Text 2"/>
          <p:cNvSpPr/>
          <p:nvPr/>
        </p:nvSpPr>
        <p:spPr>
          <a:xfrm>
            <a:off x="502920" y="1691640"/>
            <a:ext cx="11155680" cy="411480"/>
          </a:xfrm>
          <a:prstGeom prst="rect">
            <a:avLst/>
          </a:prstGeom>
          <a:noFill/>
          <a:ln/>
        </p:spPr>
        <p:txBody>
          <a:bodyPr wrap="square" rtlCol="0" anchor="ctr"/>
          <a:lstStyle/>
          <a:p>
            <a:pPr marL="0" indent="0">
              <a:buNone/>
            </a:pPr>
            <a:r>
              <a:rPr lang="en-US" sz="1300" dirty="0">
                <a:solidFill>
                  <a:srgbClr val="5A6B7D"/>
                </a:solidFill>
                <a:latin typeface="Calibri" pitchFamily="34" charset="0"/>
                <a:ea typeface="Calibri" pitchFamily="34" charset="-122"/>
                <a:cs typeface="Calibri" pitchFamily="34" charset="-120"/>
              </a:rPr>
              <a:t>Score composite = distance totale + erreur de reconstruction (k=2), toutes deux normalisées. Les 10 serveurs en tête de cette priorisation :</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2194560"/>
          <a:ext cx="11109960" cy="3419856"/>
        </p:xfrm>
        <a:graphic>
          <a:graphicData uri="http://schemas.openxmlformats.org/drawingml/2006/table">
            <a:tbl>
              <a:tblPr/>
              <a:tblGrid>
                <a:gridCol w="18288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gridCol w="2560320">
                  <a:extLst>
                    <a:ext uri="{9D8B030D-6E8A-4147-A177-3AD203B41FA5}">
                      <a16:colId xmlns:a16="http://schemas.microsoft.com/office/drawing/2014/main" val="20004"/>
                    </a:ext>
                  </a:extLst>
                </a:gridCol>
              </a:tblGrid>
              <a:tr h="310896">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Serveur</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Segment</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Distance</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cos²(CP1,CP2)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Erreur reconst. (k=2)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SRV-150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5,850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0,432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1,767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SRV-104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4,169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0,154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1,337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2"/>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SRV-096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intermédiaire</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4,326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0,285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1,216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SRV-110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5,268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0,635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0,921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4"/>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SRV-143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4,100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0,223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1,187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SRV-019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peu 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4,656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0,558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0,870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6"/>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SRV-102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4,808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0,611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0,817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SRV-105</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4,143</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0,418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0,909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08"/>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SRV-082</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intermédiaire</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4,964</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0,689</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0,697</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lgn="l">
                        <a:buNone/>
                      </a:pPr>
                      <a:r>
                        <a:rPr lang="en-US" sz="1150" dirty="0">
                          <a:solidFill>
                            <a:srgbClr val="16263B"/>
                          </a:solidFill>
                          <a:latin typeface="Calibri" pitchFamily="34" charset="0"/>
                          <a:ea typeface="Calibri" pitchFamily="34" charset="-122"/>
                          <a:cs typeface="Calibri" pitchFamily="34" charset="-120"/>
                        </a:rPr>
                        <a:t>SRV-121</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exposé</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4,130</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0,466</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tc>
                  <a:txBody>
                    <a:bodyPr/>
                    <a:lstStyle/>
                    <a:p>
                      <a:pPr marL="0" indent="0" algn="ctr">
                        <a:buNone/>
                      </a:pPr>
                      <a:r>
                        <a:rPr lang="en-US" sz="1150" dirty="0">
                          <a:solidFill>
                            <a:srgbClr val="16263B"/>
                          </a:solidFill>
                          <a:latin typeface="Calibri" pitchFamily="34" charset="0"/>
                          <a:ea typeface="Calibri" pitchFamily="34" charset="-122"/>
                          <a:cs typeface="Calibri" pitchFamily="34" charset="-120"/>
                        </a:rPr>
                        <a:t>0,828</a:t>
                      </a:r>
                      <a:endParaRPr lang="en-US" sz="1150" dirty="0">
                        <a:latin typeface="Calibri" charset="0"/>
                        <a:ea typeface="Calibri" charset="0"/>
                        <a:cs typeface="Calibri" charset="0"/>
                      </a:endParaRPr>
                    </a:p>
                  </a:txBody>
                  <a:tcPr marL="101600" marR="101600" marT="38100" marB="38100" anchor="ctr">
                    <a:lnL w="9525" cap="flat" cmpd="sng" algn="ctr">
                      <a:solidFill>
                        <a:srgbClr val="E3E8EE"/>
                      </a:solidFill>
                      <a:prstDash val="solid"/>
                      <a:round/>
                      <a:headEnd type="none" w="med" len="med"/>
                      <a:tailEnd type="none" w="med" len="med"/>
                    </a:lnL>
                    <a:lnR w="9525" cap="flat" cmpd="sng" algn="ctr">
                      <a:solidFill>
                        <a:srgbClr val="E3E8EE"/>
                      </a:solidFill>
                      <a:prstDash val="solid"/>
                      <a:round/>
                      <a:headEnd type="none" w="med" len="med"/>
                      <a:tailEnd type="none" w="med" len="med"/>
                    </a:lnR>
                    <a:lnT w="9525" cap="flat" cmpd="sng" algn="ctr">
                      <a:solidFill>
                        <a:srgbClr val="E3E8EE"/>
                      </a:solidFill>
                      <a:prstDash val="solid"/>
                      <a:round/>
                      <a:headEnd type="none" w="med" len="med"/>
                      <a:tailEnd type="none" w="med" len="med"/>
                    </a:lnT>
                    <a:lnB w="9525" cap="flat" cmpd="sng" algn="ctr">
                      <a:solidFill>
                        <a:srgbClr val="E3E8EE"/>
                      </a:solidFill>
                      <a:prstDash val="solid"/>
                      <a:round/>
                      <a:headEnd type="none" w="med" len="med"/>
                      <a:tailEnd type="none" w="med" len="med"/>
                    </a:lnB>
                    <a:solidFill>
                      <a:srgbClr val="F4F6F9"/>
                    </a:solidFill>
                  </a:tcPr>
                </a:tc>
                <a:extLst>
                  <a:ext uri="{0D108BD9-81ED-4DB2-BD59-A6C34878D82A}">
                    <a16:rowId xmlns:a16="http://schemas.microsoft.com/office/drawing/2014/main" val="10010"/>
                  </a:ext>
                </a:extLst>
              </a:tr>
            </a:tbl>
          </a:graphicData>
        </a:graphic>
      </p:graphicFrame>
      <p:sp>
        <p:nvSpPr>
          <p:cNvPr id="6" name="Shape 3"/>
          <p:cNvSpPr/>
          <p:nvPr/>
        </p:nvSpPr>
        <p:spPr>
          <a:xfrm>
            <a:off x="502920" y="5760720"/>
            <a:ext cx="11109960" cy="594360"/>
          </a:xfrm>
          <a:prstGeom prst="roundRect">
            <a:avLst>
              <a:gd name="adj" fmla="val 13846"/>
            </a:avLst>
          </a:prstGeom>
          <a:solidFill>
            <a:srgbClr val="EAF3F6"/>
          </a:solidFill>
          <a:ln w="12700">
            <a:solidFill>
              <a:srgbClr val="E3E8EE"/>
            </a:solidFill>
            <a:prstDash val="solid"/>
          </a:ln>
          <a:effectLst>
            <a:outerShdw blurRad="101600" dist="38100" dir="5400000" algn="bl" rotWithShape="0">
              <a:srgbClr val="0F2A43">
                <a:alpha val="12000"/>
              </a:srgbClr>
            </a:outerShdw>
          </a:effectLst>
        </p:spPr>
        <p:txBody>
          <a:bodyPr/>
          <a:lstStyle/>
          <a:p>
            <a:endParaRPr lang="fr-FR"/>
          </a:p>
        </p:txBody>
      </p:sp>
      <p:sp>
        <p:nvSpPr>
          <p:cNvPr id="7" name="Text 4"/>
          <p:cNvSpPr/>
          <p:nvPr/>
        </p:nvSpPr>
        <p:spPr>
          <a:xfrm>
            <a:off x="731520" y="5760720"/>
            <a:ext cx="10652760" cy="594360"/>
          </a:xfrm>
          <a:prstGeom prst="rect">
            <a:avLst/>
          </a:prstGeom>
          <a:noFill/>
          <a:ln/>
        </p:spPr>
        <p:txBody>
          <a:bodyPr wrap="square" rtlCol="0" anchor="ctr"/>
          <a:lstStyle/>
          <a:p>
            <a:pPr marL="0" indent="0">
              <a:buNone/>
            </a:pPr>
            <a:r>
              <a:rPr lang="en-US" sz="1150" i="1" dirty="0">
                <a:solidFill>
                  <a:srgbClr val="134C63"/>
                </a:solidFill>
                <a:latin typeface="Calibri" pitchFamily="34" charset="0"/>
                <a:ea typeface="Calibri" pitchFamily="34" charset="-122"/>
                <a:cs typeface="Calibri" pitchFamily="34" charset="-120"/>
              </a:rPr>
              <a:t>Le tableau indique aussi sur quel axe porte la singularité de chaque serveur — un point de départ pour une vérification opérationnelle ciblée.</a:t>
            </a:r>
            <a:endParaRPr lang="en-US" sz="1150" dirty="0"/>
          </a:p>
        </p:txBody>
      </p:sp>
      <p:sp>
        <p:nvSpPr>
          <p:cNvPr id="8" name="Text 5"/>
          <p:cNvSpPr/>
          <p:nvPr/>
        </p:nvSpPr>
        <p:spPr>
          <a:xfrm>
            <a:off x="457200" y="6547104"/>
            <a:ext cx="5486400" cy="256032"/>
          </a:xfrm>
          <a:prstGeom prst="rect">
            <a:avLst/>
          </a:prstGeom>
          <a:noFill/>
          <a:ln/>
        </p:spPr>
        <p:txBody>
          <a:bodyPr wrap="square" rtlCol="0" anchor="ctr"/>
          <a:lstStyle/>
          <a:p>
            <a:pPr marL="0" indent="0" algn="l">
              <a:buNone/>
            </a:pPr>
            <a:r>
              <a:rPr lang="en-US" sz="900" dirty="0">
                <a:solidFill>
                  <a:srgbClr val="5A6B7D"/>
                </a:solidFill>
                <a:latin typeface="Calibri" pitchFamily="34" charset="0"/>
                <a:ea typeface="Calibri" pitchFamily="34" charset="-122"/>
                <a:cs typeface="Calibri" pitchFamily="34" charset="-120"/>
              </a:rPr>
              <a:t>ACP — Audit de serveurs</a:t>
            </a:r>
            <a:endParaRPr lang="en-US" sz="900" dirty="0"/>
          </a:p>
        </p:txBody>
      </p:sp>
      <p:sp>
        <p:nvSpPr>
          <p:cNvPr id="9" name="Text 6"/>
          <p:cNvSpPr/>
          <p:nvPr/>
        </p:nvSpPr>
        <p:spPr>
          <a:xfrm>
            <a:off x="11277295" y="6547104"/>
            <a:ext cx="457200" cy="256032"/>
          </a:xfrm>
          <a:prstGeom prst="rect">
            <a:avLst/>
          </a:prstGeom>
          <a:noFill/>
          <a:ln/>
        </p:spPr>
        <p:txBody>
          <a:bodyPr wrap="square" rtlCol="0" anchor="ctr"/>
          <a:lstStyle/>
          <a:p>
            <a:pPr marL="0" indent="0" algn="r">
              <a:buNone/>
            </a:pPr>
            <a:r>
              <a:rPr lang="en-US" sz="900" dirty="0">
                <a:solidFill>
                  <a:srgbClr val="5A6B7D"/>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2A43"/>
        </a:solidFill>
        <a:effectLst/>
      </p:bgPr>
    </p:bg>
    <p:spTree>
      <p:nvGrpSpPr>
        <p:cNvPr id="1" name=""/>
        <p:cNvGrpSpPr/>
        <p:nvPr/>
      </p:nvGrpSpPr>
      <p:grpSpPr>
        <a:xfrm>
          <a:off x="0" y="0"/>
          <a:ext cx="0" cy="0"/>
          <a:chOff x="0" y="0"/>
          <a:chExt cx="0" cy="0"/>
        </a:xfrm>
      </p:grpSpPr>
      <p:sp>
        <p:nvSpPr>
          <p:cNvPr id="2" name="Text 0"/>
          <p:cNvSpPr/>
          <p:nvPr/>
        </p:nvSpPr>
        <p:spPr>
          <a:xfrm>
            <a:off x="502920" y="384048"/>
            <a:ext cx="7315200" cy="292608"/>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CONCLUSION GÉNÉRALE</a:t>
            </a:r>
            <a:endParaRPr lang="en-US" sz="1200" dirty="0"/>
          </a:p>
        </p:txBody>
      </p:sp>
      <p:sp>
        <p:nvSpPr>
          <p:cNvPr id="3" name="Text 1"/>
          <p:cNvSpPr/>
          <p:nvPr/>
        </p:nvSpPr>
        <p:spPr>
          <a:xfrm>
            <a:off x="502920" y="658368"/>
            <a:ext cx="10515600" cy="731520"/>
          </a:xfrm>
          <a:prstGeom prst="rect">
            <a:avLst/>
          </a:prstGeom>
          <a:noFill/>
          <a:ln/>
        </p:spPr>
        <p:txBody>
          <a:bodyPr wrap="square"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Un résumé fiable — pas un outil de diagnostic</a:t>
            </a:r>
            <a:endParaRPr lang="en-US" sz="3000" dirty="0"/>
          </a:p>
        </p:txBody>
      </p:sp>
      <p:sp>
        <p:nvSpPr>
          <p:cNvPr id="4" name="Shape 2"/>
          <p:cNvSpPr/>
          <p:nvPr/>
        </p:nvSpPr>
        <p:spPr>
          <a:xfrm>
            <a:off x="502920" y="1783080"/>
            <a:ext cx="3675888" cy="4343400"/>
          </a:xfrm>
          <a:prstGeom prst="roundRect">
            <a:avLst>
              <a:gd name="adj" fmla="val 2239"/>
            </a:avLst>
          </a:prstGeom>
          <a:solidFill>
            <a:srgbClr val="13324E"/>
          </a:solidFill>
          <a:ln w="12700">
            <a:solidFill>
              <a:srgbClr val="1E4562"/>
            </a:solidFill>
            <a:prstDash val="solid"/>
          </a:ln>
        </p:spPr>
        <p:txBody>
          <a:bodyPr/>
          <a:lstStyle/>
          <a:p>
            <a:endParaRPr lang="fr-FR"/>
          </a:p>
        </p:txBody>
      </p:sp>
      <p:sp>
        <p:nvSpPr>
          <p:cNvPr id="5" name="Shape 3"/>
          <p:cNvSpPr/>
          <p:nvPr/>
        </p:nvSpPr>
        <p:spPr>
          <a:xfrm>
            <a:off x="731520" y="2011680"/>
            <a:ext cx="475488" cy="475488"/>
          </a:xfrm>
          <a:prstGeom prst="ellipse">
            <a:avLst/>
          </a:prstGeom>
          <a:solidFill>
            <a:srgbClr val="3FA796"/>
          </a:solidFill>
          <a:ln/>
        </p:spPr>
        <p:txBody>
          <a:bodyPr/>
          <a:lstStyle/>
          <a:p>
            <a:endParaRPr lang="fr-FR"/>
          </a:p>
        </p:txBody>
      </p:sp>
      <p:pic>
        <p:nvPicPr>
          <p:cNvPr id="6" name="Image 0" descr="C:\Users\AS237666\AppData\Local\Temp\claude\C--Users-AS237666-StudioProjects-cia-invest-app\ee4fdbc2-3ba5-4c88-be2e-a026838ac83d\scratchpad\icons\check_FFFFFF.png"/>
          <p:cNvPicPr>
            <a:picLocks noChangeAspect="1"/>
          </p:cNvPicPr>
          <p:nvPr/>
        </p:nvPicPr>
        <p:blipFill>
          <a:blip r:embed="rId3"/>
          <a:stretch>
            <a:fillRect/>
          </a:stretch>
        </p:blipFill>
        <p:spPr>
          <a:xfrm>
            <a:off x="793333" y="2073493"/>
            <a:ext cx="351861" cy="351861"/>
          </a:xfrm>
          <a:prstGeom prst="rect">
            <a:avLst/>
          </a:prstGeom>
        </p:spPr>
      </p:pic>
      <p:sp>
        <p:nvSpPr>
          <p:cNvPr id="7" name="Text 4"/>
          <p:cNvSpPr/>
          <p:nvPr/>
        </p:nvSpPr>
        <p:spPr>
          <a:xfrm>
            <a:off x="1325880" y="2048256"/>
            <a:ext cx="2670048"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Solidement établi</a:t>
            </a:r>
            <a:endParaRPr lang="en-US" sz="1350" dirty="0"/>
          </a:p>
        </p:txBody>
      </p:sp>
      <p:sp>
        <p:nvSpPr>
          <p:cNvPr id="8" name="Text 5"/>
          <p:cNvSpPr/>
          <p:nvPr/>
        </p:nvSpPr>
        <p:spPr>
          <a:xfrm>
            <a:off x="758952" y="2697480"/>
            <a:ext cx="3163824" cy="3291840"/>
          </a:xfrm>
          <a:prstGeom prst="rect">
            <a:avLst/>
          </a:prstGeom>
          <a:noFill/>
          <a:ln/>
        </p:spPr>
        <p:txBody>
          <a:bodyPr wrap="square" rtlCol="0" anchor="t"/>
          <a:lstStyle/>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3 axes résument 86,8 % de la variance, confirmé par 4 critères indépendants.</a:t>
            </a:r>
            <a:endParaRPr lang="en-US" sz="1100" dirty="0"/>
          </a:p>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Lecture stable : CP1 risque global, CP2 type de stress, CP3 résilience.</a:t>
            </a:r>
            <a:endParaRPr lang="en-US" sz="1100" dirty="0"/>
          </a:p>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Résiste au retrait de l'individu extrême (0,009) et au bootstrap (0,125, &lt;&lt; √3).</a:t>
            </a:r>
            <a:endParaRPr lang="en-US" sz="1100" dirty="0"/>
          </a:p>
        </p:txBody>
      </p:sp>
      <p:sp>
        <p:nvSpPr>
          <p:cNvPr id="9" name="Shape 6"/>
          <p:cNvSpPr/>
          <p:nvPr/>
        </p:nvSpPr>
        <p:spPr>
          <a:xfrm>
            <a:off x="4288536" y="1783080"/>
            <a:ext cx="3675888" cy="4343400"/>
          </a:xfrm>
          <a:prstGeom prst="roundRect">
            <a:avLst>
              <a:gd name="adj" fmla="val 2239"/>
            </a:avLst>
          </a:prstGeom>
          <a:solidFill>
            <a:srgbClr val="13324E"/>
          </a:solidFill>
          <a:ln w="12700">
            <a:solidFill>
              <a:srgbClr val="1E4562"/>
            </a:solidFill>
            <a:prstDash val="solid"/>
          </a:ln>
        </p:spPr>
        <p:txBody>
          <a:bodyPr/>
          <a:lstStyle/>
          <a:p>
            <a:endParaRPr lang="fr-FR"/>
          </a:p>
        </p:txBody>
      </p:sp>
      <p:sp>
        <p:nvSpPr>
          <p:cNvPr id="10" name="Shape 7"/>
          <p:cNvSpPr/>
          <p:nvPr/>
        </p:nvSpPr>
        <p:spPr>
          <a:xfrm>
            <a:off x="4517136" y="2011680"/>
            <a:ext cx="475488" cy="475488"/>
          </a:xfrm>
          <a:prstGeom prst="ellipse">
            <a:avLst/>
          </a:prstGeom>
          <a:solidFill>
            <a:srgbClr val="E8A33D"/>
          </a:solidFill>
          <a:ln/>
        </p:spPr>
        <p:txBody>
          <a:bodyPr/>
          <a:lstStyle/>
          <a:p>
            <a:endParaRPr lang="fr-FR"/>
          </a:p>
        </p:txBody>
      </p:sp>
      <p:pic>
        <p:nvPicPr>
          <p:cNvPr id="11" name="Image 1" descr="C:\Users\AS237666\AppData\Local\Temp\claude\C--Users-AS237666-StudioProjects-cia-invest-app\ee4fdbc2-3ba5-4c88-be2e-a026838ac83d\scratchpad\icons\lightbulb_FFFFFF.png"/>
          <p:cNvPicPr>
            <a:picLocks noChangeAspect="1"/>
          </p:cNvPicPr>
          <p:nvPr/>
        </p:nvPicPr>
        <p:blipFill>
          <a:blip r:embed="rId4"/>
          <a:stretch>
            <a:fillRect/>
          </a:stretch>
        </p:blipFill>
        <p:spPr>
          <a:xfrm>
            <a:off x="4578949" y="2073493"/>
            <a:ext cx="351861" cy="351861"/>
          </a:xfrm>
          <a:prstGeom prst="rect">
            <a:avLst/>
          </a:prstGeom>
        </p:spPr>
      </p:pic>
      <p:sp>
        <p:nvSpPr>
          <p:cNvPr id="12" name="Text 8"/>
          <p:cNvSpPr/>
          <p:nvPr/>
        </p:nvSpPr>
        <p:spPr>
          <a:xfrm>
            <a:off x="5111496" y="2048256"/>
            <a:ext cx="2670048"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Pistes d'usage opérationnel</a:t>
            </a:r>
            <a:endParaRPr lang="en-US" sz="1350" dirty="0"/>
          </a:p>
        </p:txBody>
      </p:sp>
      <p:sp>
        <p:nvSpPr>
          <p:cNvPr id="13" name="Text 9"/>
          <p:cNvSpPr/>
          <p:nvPr/>
        </p:nvSpPr>
        <p:spPr>
          <a:xfrm>
            <a:off x="4544568" y="2697480"/>
            <a:ext cx="3163824" cy="3291840"/>
          </a:xfrm>
          <a:prstGeom prst="rect">
            <a:avLst/>
          </a:prstGeom>
          <a:noFill/>
          <a:ln/>
        </p:spPr>
        <p:txBody>
          <a:bodyPr wrap="square" rtlCol="0" anchor="t"/>
          <a:lstStyle/>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Forte distance ou faible cos²(CP1,CP2) → candidats à examiner en priorité.</a:t>
            </a:r>
            <a:endParaRPr lang="en-US" sz="1100" dirty="0"/>
          </a:p>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Un nouveau profil se positionne dans le même repère, sans re-calcul — suivi continu possible.</a:t>
            </a:r>
            <a:endParaRPr lang="en-US" sz="1100" dirty="0"/>
          </a:p>
        </p:txBody>
      </p:sp>
      <p:sp>
        <p:nvSpPr>
          <p:cNvPr id="14" name="Shape 10"/>
          <p:cNvSpPr/>
          <p:nvPr/>
        </p:nvSpPr>
        <p:spPr>
          <a:xfrm>
            <a:off x="8074152" y="1783080"/>
            <a:ext cx="3675888" cy="4343400"/>
          </a:xfrm>
          <a:prstGeom prst="roundRect">
            <a:avLst>
              <a:gd name="adj" fmla="val 2239"/>
            </a:avLst>
          </a:prstGeom>
          <a:solidFill>
            <a:srgbClr val="13324E"/>
          </a:solidFill>
          <a:ln w="12700">
            <a:solidFill>
              <a:srgbClr val="1E4562"/>
            </a:solidFill>
            <a:prstDash val="solid"/>
          </a:ln>
        </p:spPr>
        <p:txBody>
          <a:bodyPr/>
          <a:lstStyle/>
          <a:p>
            <a:endParaRPr lang="fr-FR"/>
          </a:p>
        </p:txBody>
      </p:sp>
      <p:sp>
        <p:nvSpPr>
          <p:cNvPr id="15" name="Shape 11"/>
          <p:cNvSpPr/>
          <p:nvPr/>
        </p:nvSpPr>
        <p:spPr>
          <a:xfrm>
            <a:off x="8302752" y="2011680"/>
            <a:ext cx="475488" cy="475488"/>
          </a:xfrm>
          <a:prstGeom prst="ellipse">
            <a:avLst/>
          </a:prstGeom>
          <a:solidFill>
            <a:srgbClr val="C0392B"/>
          </a:solidFill>
          <a:ln/>
        </p:spPr>
        <p:txBody>
          <a:bodyPr/>
          <a:lstStyle/>
          <a:p>
            <a:endParaRPr lang="fr-FR"/>
          </a:p>
        </p:txBody>
      </p:sp>
      <p:pic>
        <p:nvPicPr>
          <p:cNvPr id="16" name="Image 2" descr="C:\Users\AS237666\AppData\Local\Temp\claude\C--Users-AS237666-StudioProjects-cia-invest-app\ee4fdbc2-3ba5-4c88-be2e-a026838ac83d\scratchpad\icons\warning_FFFFFF.png"/>
          <p:cNvPicPr>
            <a:picLocks noChangeAspect="1"/>
          </p:cNvPicPr>
          <p:nvPr/>
        </p:nvPicPr>
        <p:blipFill>
          <a:blip r:embed="rId5"/>
          <a:stretch>
            <a:fillRect/>
          </a:stretch>
        </p:blipFill>
        <p:spPr>
          <a:xfrm>
            <a:off x="8364565" y="2073493"/>
            <a:ext cx="351861" cy="351861"/>
          </a:xfrm>
          <a:prstGeom prst="rect">
            <a:avLst/>
          </a:prstGeom>
        </p:spPr>
      </p:pic>
      <p:sp>
        <p:nvSpPr>
          <p:cNvPr id="17" name="Text 12"/>
          <p:cNvSpPr/>
          <p:nvPr/>
        </p:nvSpPr>
        <p:spPr>
          <a:xfrm>
            <a:off x="8897112" y="2048256"/>
            <a:ext cx="2670048" cy="457200"/>
          </a:xfrm>
          <a:prstGeom prst="rect">
            <a:avLst/>
          </a:prstGeom>
          <a:noFill/>
          <a:ln/>
        </p:spPr>
        <p:txBody>
          <a:bodyPr wrap="square"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Ce qui n'est pas démontré</a:t>
            </a:r>
            <a:endParaRPr lang="en-US" sz="1350" dirty="0"/>
          </a:p>
        </p:txBody>
      </p:sp>
      <p:sp>
        <p:nvSpPr>
          <p:cNvPr id="18" name="Text 13"/>
          <p:cNvSpPr/>
          <p:nvPr/>
        </p:nvSpPr>
        <p:spPr>
          <a:xfrm>
            <a:off x="8330184" y="2697480"/>
            <a:ext cx="3163824" cy="3291840"/>
          </a:xfrm>
          <a:prstGeom prst="rect">
            <a:avLst/>
          </a:prstGeom>
          <a:noFill/>
          <a:ln/>
        </p:spPr>
        <p:txBody>
          <a:bodyPr wrap="square" rtlCol="0" anchor="t"/>
          <a:lstStyle/>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Une position atypique n'est pas une preuve d'incident réel — écart statistique seulement.</a:t>
            </a:r>
            <a:endParaRPr lang="en-US" sz="1100" dirty="0"/>
          </a:p>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Le bootstrap est un contrôle interne, pas une validation externe.</a:t>
            </a:r>
            <a:endParaRPr lang="en-US" sz="1100" dirty="0"/>
          </a:p>
          <a:p>
            <a:pPr marL="203200" indent="-203200">
              <a:spcAft>
                <a:spcPts val="1000"/>
              </a:spcAft>
              <a:buSzPct val="100000"/>
              <a:buChar char="▪"/>
            </a:pPr>
            <a:r>
              <a:rPr lang="en-US" sz="1100" dirty="0">
                <a:solidFill>
                  <a:srgbClr val="D7E2EC"/>
                </a:solidFill>
                <a:latin typeface="Calibri" pitchFamily="34" charset="0"/>
                <a:ea typeface="Calibri" pitchFamily="34" charset="-122"/>
                <a:cs typeface="Calibri" pitchFamily="34" charset="-120"/>
              </a:rPr>
              <a:t>Données synthétiques : aucune conclusion opérationnelle réelle n'est possible.</a:t>
            </a:r>
            <a:endParaRPr lang="en-US" sz="1100" dirty="0"/>
          </a:p>
        </p:txBody>
      </p:sp>
      <p:sp>
        <p:nvSpPr>
          <p:cNvPr id="19" name="Text 14"/>
          <p:cNvSpPr/>
          <p:nvPr/>
        </p:nvSpPr>
        <p:spPr>
          <a:xfrm>
            <a:off x="502920" y="6263640"/>
            <a:ext cx="11155680" cy="457200"/>
          </a:xfrm>
          <a:prstGeom prst="rect">
            <a:avLst/>
          </a:prstGeom>
          <a:noFill/>
          <a:ln/>
        </p:spPr>
        <p:txBody>
          <a:bodyPr wrap="square" rtlCol="0" anchor="ctr"/>
          <a:lstStyle/>
          <a:p>
            <a:pPr marL="0" indent="0" algn="ctr">
              <a:buNone/>
            </a:pPr>
            <a:r>
              <a:rPr lang="en-US" sz="1150" i="1" dirty="0">
                <a:solidFill>
                  <a:srgbClr val="E8A33D"/>
                </a:solidFill>
                <a:latin typeface="Calibri" pitchFamily="34" charset="0"/>
                <a:ea typeface="Calibri" pitchFamily="34" charset="-122"/>
                <a:cs typeface="Calibri" pitchFamily="34" charset="-120"/>
              </a:rPr>
              <a:t>L'ACP fournit un résumé fiable et stable de la structure de corrélation entre indicateurs, et un outil de priorisation exploratoire — un outil descriptif, pas un outil de diagnostic ou de détection causale.</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2A43"/>
        </a:solidFill>
        <a:effectLst/>
      </p:bgPr>
    </p:bg>
    <p:spTree>
      <p:nvGrpSpPr>
        <p:cNvPr id="1" name=""/>
        <p:cNvGrpSpPr/>
        <p:nvPr/>
      </p:nvGrpSpPr>
      <p:grpSpPr>
        <a:xfrm>
          <a:off x="0" y="0"/>
          <a:ext cx="0" cy="0"/>
          <a:chOff x="0" y="0"/>
          <a:chExt cx="0" cy="0"/>
        </a:xfrm>
      </p:grpSpPr>
      <p:sp>
        <p:nvSpPr>
          <p:cNvPr id="4" name="Shape 2"/>
          <p:cNvSpPr/>
          <p:nvPr/>
        </p:nvSpPr>
        <p:spPr>
          <a:xfrm>
            <a:off x="5367528" y="1920240"/>
            <a:ext cx="914400" cy="914400"/>
          </a:xfrm>
          <a:prstGeom prst="ellipse">
            <a:avLst/>
          </a:prstGeom>
          <a:solidFill>
            <a:srgbClr val="1C7293"/>
          </a:solidFill>
          <a:ln/>
        </p:spPr>
        <p:txBody>
          <a:bodyPr/>
          <a:lstStyle/>
          <a:p>
            <a:endParaRPr lang="fr-FR"/>
          </a:p>
        </p:txBody>
      </p:sp>
      <p:pic>
        <p:nvPicPr>
          <p:cNvPr id="5" name="Image 0" descr="C:\Users\AS237666\AppData\Local\Temp\claude\C--Users-AS237666-StudioProjects-cia-invest-app\ee4fdbc2-3ba5-4c88-be2e-a026838ac83d\scratchpad\icons\server_FFFFFF.png"/>
          <p:cNvPicPr>
            <a:picLocks noChangeAspect="1"/>
          </p:cNvPicPr>
          <p:nvPr/>
        </p:nvPicPr>
        <p:blipFill>
          <a:blip r:embed="rId3"/>
          <a:stretch>
            <a:fillRect/>
          </a:stretch>
        </p:blipFill>
        <p:spPr>
          <a:xfrm>
            <a:off x="5486400" y="2039112"/>
            <a:ext cx="676656" cy="676656"/>
          </a:xfrm>
          <a:prstGeom prst="rect">
            <a:avLst/>
          </a:prstGeom>
        </p:spPr>
      </p:pic>
      <p:sp>
        <p:nvSpPr>
          <p:cNvPr id="6" name="Text 3"/>
          <p:cNvSpPr/>
          <p:nvPr/>
        </p:nvSpPr>
        <p:spPr>
          <a:xfrm>
            <a:off x="640080" y="3108960"/>
            <a:ext cx="10972800" cy="822960"/>
          </a:xfrm>
          <a:prstGeom prst="rect">
            <a:avLst/>
          </a:prstGeom>
          <a:noFill/>
          <a:ln/>
        </p:spPr>
        <p:txBody>
          <a:bodyPr wrap="square" rtlCol="0" anchor="ctr"/>
          <a:lstStyle/>
          <a:p>
            <a:pPr marL="0" indent="0" algn="ctr">
              <a:buNone/>
            </a:pPr>
            <a:r>
              <a:rPr lang="en-US" sz="3600" b="1" dirty="0">
                <a:solidFill>
                  <a:srgbClr val="FFFFFF"/>
                </a:solidFill>
                <a:latin typeface="Cambria" pitchFamily="34" charset="0"/>
                <a:ea typeface="Cambria" pitchFamily="34" charset="-122"/>
                <a:cs typeface="Cambria" pitchFamily="34" charset="-120"/>
              </a:rPr>
              <a:t>Merci de votre attention</a:t>
            </a:r>
            <a:endParaRPr lang="en-US" sz="3600" dirty="0"/>
          </a:p>
        </p:txBody>
      </p:sp>
      <p:sp>
        <p:nvSpPr>
          <p:cNvPr id="7" name="Text 4"/>
          <p:cNvSpPr/>
          <p:nvPr/>
        </p:nvSpPr>
        <p:spPr>
          <a:xfrm>
            <a:off x="640080" y="3794760"/>
            <a:ext cx="10972800" cy="548640"/>
          </a:xfrm>
          <a:prstGeom prst="rect">
            <a:avLst/>
          </a:prstGeom>
          <a:noFill/>
          <a:ln/>
        </p:spPr>
        <p:txBody>
          <a:bodyPr wrap="square" rtlCol="0" anchor="ctr"/>
          <a:lstStyle/>
          <a:p>
            <a:pPr marL="0" indent="0" algn="ctr">
              <a:buNone/>
            </a:pPr>
            <a:r>
              <a:rPr lang="en-US" sz="1600" i="1" dirty="0">
                <a:solidFill>
                  <a:srgbClr val="E8A33D"/>
                </a:solidFill>
                <a:latin typeface="Calibri" pitchFamily="34" charset="0"/>
                <a:ea typeface="Calibri" pitchFamily="34" charset="-122"/>
                <a:cs typeface="Calibri" pitchFamily="34" charset="-120"/>
              </a:rPr>
              <a:t>Questions &amp; discussion</a:t>
            </a:r>
            <a:endParaRPr lang="en-US" sz="1600" dirty="0"/>
          </a:p>
        </p:txBody>
      </p:sp>
      <p:sp>
        <p:nvSpPr>
          <p:cNvPr id="8" name="Text 5"/>
          <p:cNvSpPr/>
          <p:nvPr/>
        </p:nvSpPr>
        <p:spPr>
          <a:xfrm>
            <a:off x="640080" y="6126480"/>
            <a:ext cx="10972800" cy="365760"/>
          </a:xfrm>
          <a:prstGeom prst="rect">
            <a:avLst/>
          </a:prstGeom>
          <a:noFill/>
          <a:ln/>
        </p:spPr>
        <p:txBody>
          <a:bodyPr wrap="square" rtlCol="0" anchor="ctr"/>
          <a:lstStyle/>
          <a:p>
            <a:pPr marL="0" indent="0" algn="ctr">
              <a:buNone/>
            </a:pPr>
            <a:r>
              <a:rPr lang="en-US" sz="1100" dirty="0">
                <a:solidFill>
                  <a:srgbClr val="9FB6C8"/>
                </a:solidFill>
                <a:latin typeface="Calibri" pitchFamily="34" charset="0"/>
                <a:ea typeface="Calibri" pitchFamily="34" charset="-122"/>
                <a:cs typeface="Calibri" pitchFamily="34" charset="-120"/>
              </a:rPr>
              <a:t>ACP — Indicateurs d'audit de serveurs · Datacamp II — Master 2 Génie Informatique · 2025-2026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2330</Words>
  <Application>Microsoft Office PowerPoint</Application>
  <PresentationFormat>Grand écran</PresentationFormat>
  <Paragraphs>400</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ACP — Indicateurs d'audit de serveurs</dc:title>
  <dc:subject>PptxGenJS Presentation</dc:subject>
  <dc:creator>Datacamp II — Master 2 GI</dc:creator>
  <cp:lastModifiedBy>Abdoulaye Sidy, SAMB</cp:lastModifiedBy>
  <cp:revision>3</cp:revision>
  <dcterms:created xsi:type="dcterms:W3CDTF">2026-09-22T11:42:19Z</dcterms:created>
  <dcterms:modified xsi:type="dcterms:W3CDTF">2026-09-22T11:46:45Z</dcterms:modified>
</cp:coreProperties>
</file>