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4727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640080" y="6858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C:\Users\AS237666\AppData\Local\Temp\claude\C--Users-AS237666-StudioProjects-cia-invest-app\ee4fdbc2-3ba5-4c88-be2e-a026838ac83d\scratchpad\icons\serv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780898"/>
            <a:ext cx="541325" cy="5413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713232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DATACAMP II — MASTER 2 GÉNIE INFORMATIQUE — 2025-2026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en Composantes Principales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640080" y="30632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Indicateurs d'audit de 160 serveurs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40080" y="379476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Résumer 11 indicateurs de charge, sécurité et résilience </a:t>
            </a: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3 axes interprétables</a:t>
            </a:r>
            <a:r>
              <a:rPr lang="en-US" sz="15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pour situer et prioriser les serveurs à examiner.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5349240"/>
            <a:ext cx="9418320" cy="868680"/>
          </a:xfrm>
          <a:prstGeom prst="roundRect">
            <a:avLst>
              <a:gd name="adj" fmla="val 9474"/>
            </a:avLst>
          </a:prstGeom>
          <a:solidFill>
            <a:srgbClr val="13324E"/>
          </a:solidFill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1" descr="C:\Users\AS237666\AppData\Local\Temp\claude\C--Users-AS237666-StudioProjects-cia-invest-app\ee4fdbc2-3ba5-4c88-be2e-a026838ac83d\scratchpad\icons\shield_E8A3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5778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5513832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synthétiques : aucune mesure opérationnelle réelle ni diagnostic de sécurité ne peut être déduit des résultats présentés dans ce rapport.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lecture en quatre temps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1120140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9144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3E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600200" y="213055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C:\Users\AS237666\AppData\Local\Temp\claude\C--Users-AS237666-StudioProjects-cia-invest-app\ee4fdbc2-3ba5-4c88-be2e-a026838ac83d\scratchpad\icons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901" y="2204253"/>
            <a:ext cx="419527" cy="41952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23160" y="2011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données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126480" y="1874520"/>
            <a:ext cx="53949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serveurs, 11 indicateurs actifs, choix de la méthode (corrélation).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3090672"/>
            <a:ext cx="1120140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777240" y="3090672"/>
            <a:ext cx="9144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3E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1600200" y="3346704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C:\Users\AS237666\AppData\Local\Temp\claude\C--Users-AS237666-StudioProjects-cia-invest-app\ee4fdbc2-3ba5-4c88-be2e-a026838ac83d\scratchpad\icons\cha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901" y="3420405"/>
            <a:ext cx="419527" cy="41952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23160" y="32278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des axes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126480" y="3090672"/>
            <a:ext cx="53949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d'axes retenir, que représentent-ils, cercle des corrélations.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4306824"/>
            <a:ext cx="1120140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777240" y="4306824"/>
            <a:ext cx="9144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3E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1600200" y="4562856"/>
            <a:ext cx="566928" cy="566928"/>
          </a:xfrm>
          <a:prstGeom prst="ellipse">
            <a:avLst/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C:\Users\AS237666\AppData\Local\Temp\claude\C--Users-AS237666-StudioProjects-cia-invest-app\ee4fdbc2-3ba5-4c88-be2e-a026838ac83d\scratchpad\icons\crosshai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901" y="4636557"/>
            <a:ext cx="419527" cy="41952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4231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des individus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126480" y="4306824"/>
            <a:ext cx="53949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Projection, qualité de représentation, serveurs atypiques, reconstruction.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02920" y="5522976"/>
            <a:ext cx="1120140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/>
          <p:nvPr/>
        </p:nvSpPr>
        <p:spPr>
          <a:xfrm>
            <a:off x="777240" y="5522976"/>
            <a:ext cx="9144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3E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1600200" y="5779008"/>
            <a:ext cx="566928" cy="566928"/>
          </a:xfrm>
          <a:prstGeom prst="ellipse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3" descr="C:\Users\AS237666\AppData\Local\Temp\claude\C--Users-AS237666-StudioProjects-cia-invest-app\ee4fdbc2-3ba5-4c88-be2e-a026838ac83d\scratchpad\icons\sync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3901" y="5852709"/>
            <a:ext cx="419527" cy="41952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423160" y="5660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et limites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6126480" y="5522976"/>
            <a:ext cx="53949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plans CP1-CP2 / CP1-CP3, portée et limites de l'ACP.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 &amp;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audit synthétique de 160 serveurs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6126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serveurs décrits par 11 indicateurs quantitatifs : charge, performance, exposition, sécurité, résilience.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résumer ces indicateurs corrélés en un petit nombre d'axes interprétables, sans perdre d'information essentielle.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serveur_id (identifiant) et segment_synthetique (étiquette externe) sont exclus des variables actives — utilisés seulement a posteriori pour lire les résultats.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source n'est jamais modifié ; toute suppression d'individu (Q12) est faite sur une copie en mémoire.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903720" y="1783080"/>
            <a:ext cx="48006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03720" y="1783080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269480" y="17830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89720" y="1783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 audités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03720" y="2834640"/>
            <a:ext cx="48006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03720" y="2834640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26948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9189720" y="28346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actifs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03720" y="3886200"/>
            <a:ext cx="48006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903720" y="3886200"/>
            <a:ext cx="128016" cy="914400"/>
          </a:xfrm>
          <a:prstGeom prst="roundRect">
            <a:avLst>
              <a:gd name="adj" fmla="val 50000"/>
            </a:avLst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269480" y="38862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189720" y="38862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 / valeur manquante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03720" y="4974336"/>
            <a:ext cx="4800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segment externe (a posteriori)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21318" y="5482749"/>
            <a:ext cx="1527048" cy="621792"/>
          </a:xfrm>
          <a:prstGeom prst="roundRect">
            <a:avLst>
              <a:gd name="adj" fmla="val 588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903720" y="5230368"/>
            <a:ext cx="1527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6135624"/>
            <a:ext cx="1618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58784" y="5641820"/>
            <a:ext cx="1527048" cy="454743"/>
          </a:xfrm>
          <a:prstGeom prst="roundRect">
            <a:avLst>
              <a:gd name="adj" fmla="val 8043"/>
            </a:avLst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476488" y="5393027"/>
            <a:ext cx="1527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49056" y="6124927"/>
            <a:ext cx="1618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exposé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254996" y="5702853"/>
            <a:ext cx="1527048" cy="408341"/>
          </a:xfrm>
          <a:prstGeom prst="roundRect">
            <a:avLst>
              <a:gd name="adj" fmla="val 895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0207447" y="5456345"/>
            <a:ext cx="1527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85832" y="6124927"/>
            <a:ext cx="1618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QUESTION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et inspection des données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65379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de 160 lignes × 13 colonnes, sans doublon ni valeur manquante.</a:t>
            </a:r>
            <a:endParaRPr lang="en-US" sz="13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variables actives retenues pour l'ACP : cpu_pct, ram_pct, trafic_mbps, latence_ms, tentatives_intrusion, ports_exposes, vulnerabilites_ouvertes, jours_depuis_correctif, disponibilite_pct, temps_retablissement_min, sauvegardes_reussies_pct.</a:t>
            </a:r>
            <a:endParaRPr lang="en-US" sz="13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serveur_id : identifiant sans contenu numérique interprétable → exclu.</a:t>
            </a:r>
            <a:endParaRPr lang="en-US" sz="13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segment_synthetique : étiquette externe construite indépendamment des mesures → comparée seulement a posteriori, pour éviter un raisonnement circulaire.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0" y="1783080"/>
            <a:ext cx="438912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635240" y="20574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C:\Users\AS237666\AppData\Local\Temp\claude\C--Users-AS237666-StudioProjects-cia-invest-app\ee4fdbc2-3ba5-4c88-be2e-a026838ac83d\scratchpad\icons\search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620" y="2122780"/>
            <a:ext cx="372161" cy="37216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2104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variables actives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89520" y="2743200"/>
            <a:ext cx="741578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589520" y="2743200"/>
            <a:ext cx="7415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cpu_pct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422538" y="2743200"/>
            <a:ext cx="741578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8422538" y="2743200"/>
            <a:ext cx="7415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ram_pct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255557" y="2743200"/>
            <a:ext cx="1081735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255557" y="2743200"/>
            <a:ext cx="1081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trafic_mbps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428732" y="2743200"/>
            <a:ext cx="996696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10428732" y="2743200"/>
            <a:ext cx="996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latence_ms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589520" y="3200400"/>
            <a:ext cx="1847088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7589520" y="3200400"/>
            <a:ext cx="1847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tentatives_intrusion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528048" y="3200400"/>
            <a:ext cx="1251814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9528048" y="3200400"/>
            <a:ext cx="12518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ports_exposes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589520" y="3657600"/>
            <a:ext cx="2102206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7589520" y="3657600"/>
            <a:ext cx="210220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vulnerabilites_ouvertes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589520" y="4114800"/>
            <a:ext cx="2017166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7589520" y="4114800"/>
            <a:ext cx="20171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jours_depuis_correctif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698126" y="4114800"/>
            <a:ext cx="1591970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9698126" y="4114800"/>
            <a:ext cx="15919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disponibilite_pct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589520" y="4572000"/>
            <a:ext cx="2187245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7589520" y="4572000"/>
            <a:ext cx="21872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temps_retablissement_min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589520" y="5029200"/>
            <a:ext cx="2187245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7589520" y="5029200"/>
            <a:ext cx="21872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sauvegardes_reussies_pct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QUESTION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 plutôt que covariance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6035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Écarts-types hétérogènes : </a:t>
            </a: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0,59 (disponibilite_pct, %) à 106,6 (trafic_mbps, Mbps) — un rapport d'environ </a:t>
            </a: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r>
              <a:rPr lang="en-US" sz="1350" dirty="0">
                <a:solidFill>
                  <a:srgbClr val="16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Une ACP sur covariance ferait dominer trafic_mbps par son échelle, pas son contenu informatif.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3063240"/>
            <a:ext cx="6035040" cy="1234440"/>
          </a:xfrm>
          <a:prstGeom prst="roundRect">
            <a:avLst>
              <a:gd name="adj" fmla="val 6667"/>
            </a:avLst>
          </a:prstGeom>
          <a:solidFill>
            <a:srgbClr val="EAF3F6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C:\Users\AS237666\AppData\Local\Temp\claude\C--Users-AS237666-StudioProjects-cia-invest-app\ee4fdbc2-3ba5-4c88-be2e-a026838ac83d\scratchpad\icons\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" y="3351276"/>
            <a:ext cx="338328" cy="3383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320040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réalisée sur la matrice de corrélation (StandardScaler : moyenne 0, écart-type 1) — chaque indicateur reçoit le même poids initial.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452628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blocs de variables fortement corrélées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4946904"/>
            <a:ext cx="109728" cy="54864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749808" y="4892040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/ performance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49808" y="51663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cpu_pct, ram_pct, trafic_mbps, latence_ms — r ≈ 0,80 à 0,90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5660136"/>
            <a:ext cx="109728" cy="5486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749808" y="5605272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/ sécurité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49808" y="587959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tentatives_intrusion, jours_depuis_correctif, vulnérabilités, ports — r ≈ 0,76 à 0,81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1737360"/>
            <a:ext cx="493776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1" descr="C:\Users\AS237666\AppData\Local\Temp\claude\C--Users-AS237666-StudioProjects-cia-invest-app\ee4fdbc2-3ba5-4c88-be2e-a026838ac83d\scratchpad\img\trim_cell009_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967728" y="1938528"/>
            <a:ext cx="4535424" cy="3758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67728" y="5715000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corrélation des 11 variables actives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QUESTION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Combien d'axes retenir ? Trois critères convergent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74066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AS237666\AppData\Local\Temp\claude\C--Users-AS237666-StudioProjects-cia-invest-app\ee4fdbc2-3ba5-4c88-be2e-a026838ac83d\scratchpad\img\trim_cell014_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088" y="1938528"/>
            <a:ext cx="7004304" cy="2569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4526280"/>
            <a:ext cx="7004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Éboulis des valeurs propres et variance cumulée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02920" y="516636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C:\Users\AS237666\AppData\Local\Temp\claude\C--Users-AS237666-StudioProjects-cia-invest-app\ee4fdbc2-3ba5-4c88-be2e-a026838ac83d\scratchpad\icons\che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846" y="5216286"/>
            <a:ext cx="284196" cy="2841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5148072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de Kaiser  </a:t>
            </a: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axes ont une valeur propre &gt; 1 ; CP4 chute à 0,27.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562356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C:\Users\AS237666\AppData\Local\Temp\claude\C--Users-AS237666-StudioProjects-cia-invest-app\ee4fdbc2-3ba5-4c88-be2e-a026838ac83d\scratchpad\icons\char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846" y="5673486"/>
            <a:ext cx="284196" cy="2841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5605272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80 %  </a:t>
            </a: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Atteint dès 3 axes : 86,8 % de variance cumulée.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02920" y="608076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3" descr="C:\Users\AS237666\AppData\Local\Temp\claude\C--Users-AS237666-StudioProjects-cia-invest-app\ee4fdbc2-3ba5-4c88-be2e-a026838ac83d\scratchpad\icons\crosshai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846" y="6130686"/>
            <a:ext cx="284196" cy="28419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05840" y="6062472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de l'éboulis  </a:t>
            </a: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 nette de pente après CP3.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8138160" y="1737360"/>
            <a:ext cx="3566160" cy="4434840"/>
          </a:xfrm>
          <a:prstGeom prst="roundRect">
            <a:avLst>
              <a:gd name="adj" fmla="val 230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1"/>
          <p:cNvSpPr/>
          <p:nvPr/>
        </p:nvSpPr>
        <p:spPr>
          <a:xfrm>
            <a:off x="836676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axes retenus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366760" y="24231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326880" y="24231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0332720" y="2423160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Cum. %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366760" y="28803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CP1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326880" y="28803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4,57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0332720" y="2880360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41,3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8366760" y="3300984"/>
            <a:ext cx="3108960" cy="0"/>
          </a:xfrm>
          <a:prstGeom prst="line">
            <a:avLst/>
          </a:prstGeom>
          <a:noFill/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8366760" y="33375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CP2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9326880" y="33375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2,94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10332720" y="3337560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366760" y="3758184"/>
            <a:ext cx="3108960" cy="0"/>
          </a:xfrm>
          <a:prstGeom prst="line">
            <a:avLst/>
          </a:prstGeom>
          <a:noFill/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3"/>
          <p:cNvSpPr/>
          <p:nvPr/>
        </p:nvSpPr>
        <p:spPr>
          <a:xfrm>
            <a:off x="8366760" y="37947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9326880" y="3794760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2,09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10332720" y="3794760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86,8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8366760" y="4215384"/>
            <a:ext cx="3108960" cy="0"/>
          </a:xfrm>
          <a:prstGeom prst="line">
            <a:avLst/>
          </a:prstGeom>
          <a:noFill/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27"/>
          <p:cNvSpPr/>
          <p:nvPr/>
        </p:nvSpPr>
        <p:spPr>
          <a:xfrm>
            <a:off x="836676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B9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portée par CP4→CP11 (13,2 %) jugée secondaire : chacune de ces composantes explique moins de 2,5 % de la variance totale.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QUESTION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axes, trois lectures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variable-axe </a:t>
            </a: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(loading, entre -1 et 1) place la variable dans le cercle des corrélations ; </a:t>
            </a: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</a:t>
            </a:r>
            <a:r>
              <a:rPr lang="en-US" sz="12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sa part dans l'inertie de l'axe (somme = 100 % par axe). Le signe des composantes est arbitraire.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61188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3611880" cy="566928"/>
          </a:xfrm>
          <a:prstGeom prst="roundRect">
            <a:avLst>
              <a:gd name="adj" fmla="val 14516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611880" cy="29260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41,3 %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" y="31272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 global / résilience inversée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3840480"/>
            <a:ext cx="32095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Oppose charge, exposition et incidents à disponibilite_pct et sauvegardes_reussies_pct.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70248" y="2377440"/>
            <a:ext cx="361188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270248" y="2377440"/>
            <a:ext cx="3611880" cy="566928"/>
          </a:xfrm>
          <a:prstGeom prst="roundRect">
            <a:avLst>
              <a:gd name="adj" fmla="val 14516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270248" y="2651760"/>
            <a:ext cx="3611880" cy="292608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453128" y="237744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270248" y="237744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26,6 %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71416" y="31272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de stress dominant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71416" y="3840480"/>
            <a:ext cx="32095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Oppose le bloc charge/performance au bloc exposition/sécurité.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37576" y="2377440"/>
            <a:ext cx="361188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8037576" y="2377440"/>
            <a:ext cx="3611880" cy="566928"/>
          </a:xfrm>
          <a:prstGeom prst="roundRect">
            <a:avLst>
              <a:gd name="adj" fmla="val 14516"/>
            </a:avLst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037576" y="2651760"/>
            <a:ext cx="3611880" cy="292608"/>
          </a:xfrm>
          <a:prstGeom prst="rect">
            <a:avLst/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220456" y="237744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037576" y="237744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18,9 %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38744" y="31272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Résilience opérationnelle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38744" y="3840480"/>
            <a:ext cx="32095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Dominé par sauvegardes, temps de rétablissement et disponibilité — 82,8 % de son inertie.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QUESTION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Cercle des corrélations et carte thermique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4114800" cy="4434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AS237666\AppData\Local\Temp\claude\C--Users-AS237666-StudioProjects-cia-invest-app\ee4fdbc2-3ba5-4c88-be2e-a026838ac83d\scratchpad\img\trim_cell021_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088" y="1938528"/>
            <a:ext cx="3712464" cy="3758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715000"/>
            <a:ext cx="3712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Cercle des corrélations — CP1 × CP2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54880" y="173736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C:\Users\AS237666\AppData\Local\Temp\claude\C--Users-AS237666-StudioProjects-cia-invest-app\ee4fdbc2-3ba5-4c88-be2e-a026838ac83d\scratchpad\img\trim_cell022_3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56048" y="1938528"/>
            <a:ext cx="3255264" cy="3758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56048" y="5715000"/>
            <a:ext cx="3255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thermique des corrélations — CP1 × CP3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8549640" y="1737360"/>
            <a:ext cx="3154680" cy="4434840"/>
          </a:xfrm>
          <a:prstGeom prst="roundRect">
            <a:avLst>
              <a:gd name="adj" fmla="val 2609"/>
            </a:avLst>
          </a:prstGeom>
          <a:solidFill>
            <a:srgbClr val="EAF3F6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7"/>
          <p:cNvSpPr/>
          <p:nvPr/>
        </p:nvSpPr>
        <p:spPr>
          <a:xfrm>
            <a:off x="8778240" y="19659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2" descr="C:\Users\AS237666\AppData\Local\Temp\claude\C--Users-AS237666-StudioProjects-cia-invest-app\ee4fdbc2-3ba5-4c88-be2e-a026838ac83d\scratchpad\icons\laye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7676" y="2025396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778240" y="25420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cos² : la qualité de représentation dépend du plan choisi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8778240" y="315468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temps_retablissement_min </a:t>
            </a:r>
            <a:r>
              <a:rPr lang="en-US" sz="11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</a:t>
            </a:r>
            <a:r>
              <a:rPr lang="en-US" sz="1150" b="1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sauvegardes_reussies_pct </a:t>
            </a:r>
            <a:r>
              <a:rPr lang="en-US" sz="115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sont mal représentées sur CP1-CP2 (cos² 0,21 / 0,16) mais très bien sur CP1-CP3 (cos² 0,85 / 0,87).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8778240" y="48006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plan CP1-CP2 seul occulte la dimension résilience/sauvegardes : il faut aller la chercher sur CP3.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QUESTION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 des individus et qualité (cos²)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0936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AS237666\AppData\Local\Temp\claude\C--Users-AS237666-StudioProjects-cia-invest-app\ee4fdbc2-3ba5-4c88-be2e-a026838ac83d\scratchpad\img\trim_cell026_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088" y="1938528"/>
            <a:ext cx="5907024" cy="3758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715000"/>
            <a:ext cx="5907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des 160 serveurs sur CP1 × CP2, colorée par segment externe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086600" y="17373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086600" y="1828800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0,003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86600" y="2395728"/>
            <a:ext cx="1444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22792" y="17373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622792" y="1828800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0,597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22792" y="2395728"/>
            <a:ext cx="1444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158984" y="17373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10158984" y="1828800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0,972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0158984" y="2395728"/>
            <a:ext cx="1444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08660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cos²(CP1, CP2) sur les 160 serveurs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08660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serveurs les moins bien représentés (tous « intermédiaire »)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3657600"/>
          <a:ext cx="4572000" cy="17556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7086600" y="5760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ne pas interpréter à partir du seul plan CP1-CP2 : se référer au plan CP1-CP3.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QUESTION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Serveurs atypiques : deux classements, deux lectures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compare le classement des serveurs les plus atypiques selon la vraie distance multivariée (11 axes) et selon la distance apparente dans le seul plan CP1-CP2.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31720"/>
          <a:ext cx="5120640" cy="230428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SRV-073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09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complet (11 axes)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331720"/>
          <a:ext cx="5120640" cy="230428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SRV-073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SRV-129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SRV-071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exposé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92240" y="4709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CP1-CP2 seul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5166360"/>
            <a:ext cx="11109960" cy="1005840"/>
          </a:xfrm>
          <a:prstGeom prst="roundRect">
            <a:avLst>
              <a:gd name="adj" fmla="val 8182"/>
            </a:avLst>
          </a:prstGeom>
          <a:solidFill>
            <a:srgbClr val="EAF3F6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6"/>
          <p:cNvSpPr/>
          <p:nvPr/>
        </p:nvSpPr>
        <p:spPr>
          <a:xfrm>
            <a:off x="731520" y="53492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AS237666\AppData\Local\Temp\claude\C--Users-AS237666-StudioProjects-cia-invest-app\ee4fdbc2-3ba5-4c88-be2e-a026838ac83d\scratchpad\icons\warnin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" y="5408676"/>
            <a:ext cx="338328" cy="3383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525780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3 serveurs sur 5 sont communs aux deux classements (SRV-073, SRV-117, SRV-145) : se limiter au plan CP1-CP2 fait manquer des individus réellement atypiques. Une distance élevée n'indique ni la direction de l'écart, ni sa cause.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QUESTIONS 8-9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et comparaison des plans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MSE(k) = 1 − variance expliquée cumulée(k)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vérifiée numériquement pour k = 2, 3, 4 (écart nul à l'erreur flottante près). En ne gardant que 3 axes, l'information perdue est exactement 13,2 % — l'énergie portée par CP4 à CP11.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0" descr="C:\Users\AS237666\AppData\Local\Temp\claude\C--Users-AS237666-StudioProjects-cia-invest-app\ee4fdbc2-3ba5-4c88-be2e-a026838ac83d\scratchpad\img\trim_cell036_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088" y="3630168"/>
            <a:ext cx="4992624" cy="20665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04088" y="5715000"/>
            <a:ext cx="4992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CP1×CP2 (charge/exposition) et CP1×CP3 (résilience)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80760" y="1737360"/>
            <a:ext cx="5532120" cy="4434840"/>
          </a:xfrm>
          <a:prstGeom prst="roundRect">
            <a:avLst>
              <a:gd name="adj" fmla="val 1856"/>
            </a:avLst>
          </a:prstGeom>
          <a:solidFill>
            <a:srgbClr val="0F2A43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0F2A4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309360" y="1965960"/>
            <a:ext cx="502920" cy="502920"/>
          </a:xfrm>
          <a:prstGeom prst="ellipse">
            <a:avLst/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C:\Users\AS237666\AppData\Local\Temp\claude\C--Users-AS237666-StudioProjects-cia-invest-app\ee4fdbc2-3ba5-4c88-be2e-a026838ac83d\scratchpad\icons\che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740" y="2031340"/>
            <a:ext cx="372161" cy="3721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20116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du corps du sujet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309360" y="260604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plan CP1-CP2 sépare nettement les 3 segments externes ; sur CP1-CP3 ils se superposent presque totalement — CP3 est orthogonal à ce découpage, une dimension d'information à part entière.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309360" y="374904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L'ACP révèle une structure claire et stable — 3 axes interprétables, 86,8 % de variance — qui résume les 11 indicateurs en trois lectures : risque global, type de stress dominant, résilience.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309360" y="5029200"/>
            <a:ext cx="5029200" cy="0"/>
          </a:xfrm>
          <a:prstGeom prst="line">
            <a:avLst/>
          </a:prstGeom>
          <a:noFill/>
          <a:ln w="12700">
            <a:solidFill>
              <a:srgbClr val="2442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6309360" y="51663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descriptif et exploratoire — ni diagnostic causal, ni détecteur d'incident : une position atypique ne prouve rien en soi.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65471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Audit de serveurs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7295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GÉNÉRALE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résumé fiable — pas un outil de diagnostic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324E"/>
          </a:solidFill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475488" cy="475488"/>
          </a:xfrm>
          <a:prstGeom prst="ellipse">
            <a:avLst/>
          </a:prstGeom>
          <a:solidFill>
            <a:srgbClr val="3FA79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C:\Users\AS237666\AppData\Local\Temp\claude\C--Users-AS237666-StudioProjects-cia-invest-app\ee4fdbc2-3ba5-4c88-be2e-a026838ac83d\scratchpad\icons\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333" y="2073493"/>
            <a:ext cx="351861" cy="3518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2048256"/>
            <a:ext cx="2670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Solidement établi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58952" y="2697480"/>
            <a:ext cx="316382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axes résument 86,8 % de la variance, confirmé par 3 critères convergents.</a:t>
            </a:r>
            <a:endParaRPr lang="en-US" sz="11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stable : CP1 risque global, CP2 type de stress, CP3 résilience.</a:t>
            </a:r>
            <a:endParaRPr lang="en-US" sz="11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reconstruction nulle pour k = 2, 3, 4 (identité vérifiée numériquement).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88536" y="178308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324E"/>
          </a:solidFill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517136" y="201168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C:\Users\AS237666\AppData\Local\Temp\claude\C--Users-AS237666-StudioProjects-cia-invest-app\ee4fdbc2-3ba5-4c88-be2e-a026838ac83d\scratchpad\icons\lightbul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949" y="2073493"/>
            <a:ext cx="351861" cy="3518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2048256"/>
            <a:ext cx="2670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Pistes d'usage opérationnel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4568" y="2697480"/>
            <a:ext cx="316382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distance ou faible cos²(CP1,CP2) → candidats à examiner en priorité.</a:t>
            </a:r>
            <a:endParaRPr lang="en-US" sz="11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 les deux plans (CP1-CP2 et CP1-CP3) pour ne pas occulter la dimension résilience.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4152" y="1783080"/>
            <a:ext cx="3675888" cy="4343400"/>
          </a:xfrm>
          <a:prstGeom prst="roundRect">
            <a:avLst>
              <a:gd name="adj" fmla="val 2239"/>
            </a:avLst>
          </a:prstGeom>
          <a:solidFill>
            <a:srgbClr val="13324E"/>
          </a:solidFill>
          <a:ln w="12700">
            <a:solidFill>
              <a:srgbClr val="1E45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302752" y="2011680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C:\Users\AS237666\AppData\Local\Temp\claude\C--Users-AS237666-StudioProjects-cia-invest-app\ee4fdbc2-3ba5-4c88-be2e-a026838ac83d\scratchpad\icons\warning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4565" y="2073493"/>
            <a:ext cx="351861" cy="3518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97112" y="2048256"/>
            <a:ext cx="2670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n'est pas démontré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30184" y="2697480"/>
            <a:ext cx="316382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position atypique n'est pas une preuve d'incident réel — écart statistique seulement.</a:t>
            </a:r>
            <a:endParaRPr lang="en-US" sz="11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segment externe n'a pas servi à construire les axes ; il n'éclaire qu'a posteriori.</a:t>
            </a:r>
            <a:endParaRPr lang="en-US" sz="110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synthétiques : aucune conclusion opérationnelle réelle n'est possible.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L'ACP fournit un résumé fiable et stable de la structure de corrélation entre indicateurs, et un outil de priorisation exploratoire — un outil descriptif, pas un outil de diagnostic ou de détection causale.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367528" y="19202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AS237666\AppData\Local\Temp\claude\C--Users-AS237666-StudioProjects-cia-invest-app\ee4fdbc2-3ba5-4c88-be2e-a026838ac83d\scratchpad\icons\serv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03911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108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3794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— Indicateurs d'audit de serveurs · Datacamp II — Master 2 Génie Informatique · 2025-2026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2330</Words>
  <Application>Microsoft Office PowerPoint</Application>
  <PresentationFormat>Grand écran</PresentationFormat>
  <Paragraphs>400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ACP — Indicateurs d'audit de serveurs</dc:title>
  <dc:subject>PptxGenJS Presentation</dc:subject>
  <dc:creator>Datacamp II — Master 2 GI</dc:creator>
  <cp:lastModifiedBy>Abdoulaye Sidy, SAMB</cp:lastModifiedBy>
  <cp:revision>3</cp:revision>
  <dcterms:created xsi:type="dcterms:W3CDTF">2026-09-22T11:42:19Z</dcterms:created>
  <dcterms:modified xsi:type="dcterms:W3CDTF">2026-09-22T11:46:45Z</dcterms:modified>
</cp:coreProperties>
</file>